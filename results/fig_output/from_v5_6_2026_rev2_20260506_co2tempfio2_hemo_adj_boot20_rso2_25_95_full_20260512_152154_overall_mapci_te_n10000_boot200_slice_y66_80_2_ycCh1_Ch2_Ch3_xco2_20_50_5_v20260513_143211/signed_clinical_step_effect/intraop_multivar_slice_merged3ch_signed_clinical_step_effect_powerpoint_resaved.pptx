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972401" y="821225"/>
              <a:ext cx="2191014" cy="2232499"/>
            </a:xfrm>
            <a:custGeom>
              <a:avLst/>
              <a:gdLst/>
              <a:ahLst/>
              <a:cxnLst/>
              <a:rect l="0" t="0" r="0" b="0"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972401" y="821225"/>
              <a:ext cx="2191014" cy="1963194"/>
            </a:xfrm>
            <a:custGeom>
              <a:avLst/>
              <a:gdLst/>
              <a:ahLst/>
              <a:cxnLst/>
              <a:rect l="0" t="0" r="0" b="0"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972401" y="1321074"/>
              <a:ext cx="2191014" cy="1732650"/>
            </a:xfrm>
            <a:custGeom>
              <a:avLst/>
              <a:gdLst/>
              <a:ahLst/>
              <a:cxnLst/>
              <a:rect l="0" t="0" r="0" b="0"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972401" y="1096003"/>
              <a:ext cx="2191014" cy="1819447"/>
            </a:xfrm>
            <a:custGeom>
              <a:avLst/>
              <a:gdLst/>
              <a:ahLst/>
              <a:cxnLst/>
              <a:rect l="0" t="0" r="0" b="0"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78255" y="785194"/>
              <a:ext cx="2189796" cy="2154338"/>
            </a:xfrm>
            <a:custGeom>
              <a:avLst/>
              <a:gdLst/>
              <a:ahLst/>
              <a:cxnLst/>
              <a:rect l="0" t="0" r="0" b="0"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78255" y="785194"/>
              <a:ext cx="2189796" cy="1914356"/>
            </a:xfrm>
            <a:custGeom>
              <a:avLst/>
              <a:gdLst/>
              <a:ahLst/>
              <a:cxnLst/>
              <a:rect l="0" t="0" r="0" b="0"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78255" y="1242131"/>
              <a:ext cx="2189796" cy="1697402"/>
            </a:xfrm>
            <a:custGeom>
              <a:avLst/>
              <a:gdLst/>
              <a:ahLst/>
              <a:cxnLst/>
              <a:rect l="0" t="0" r="0" b="0"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78255" y="1028228"/>
              <a:ext cx="2189796" cy="1788652"/>
            </a:xfrm>
            <a:custGeom>
              <a:avLst/>
              <a:gdLst/>
              <a:ahLst/>
              <a:cxnLst/>
              <a:rect l="0" t="0" r="0" b="0"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81585" y="861727"/>
              <a:ext cx="2191014" cy="1160318"/>
            </a:xfrm>
            <a:custGeom>
              <a:avLst/>
              <a:gdLst/>
              <a:ahLst/>
              <a:cxnLst/>
              <a:rect l="0" t="0" r="0" b="0"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81585" y="861727"/>
              <a:ext cx="2191014" cy="1003786"/>
            </a:xfrm>
            <a:custGeom>
              <a:avLst/>
              <a:gdLst/>
              <a:ahLst/>
              <a:cxnLst/>
              <a:rect l="0" t="0" r="0" b="0"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81585" y="1200127"/>
              <a:ext cx="2191014" cy="821917"/>
            </a:xfrm>
            <a:custGeom>
              <a:avLst/>
              <a:gdLst/>
              <a:ahLst/>
              <a:cxnLst/>
              <a:rect l="0" t="0" r="0" b="0"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81585" y="1043656"/>
              <a:ext cx="2191014" cy="897045"/>
            </a:xfrm>
            <a:custGeom>
              <a:avLst/>
              <a:gdLst/>
              <a:ahLst/>
              <a:cxnLst/>
              <a:rect l="0" t="0" r="0" b="0"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203718"/>
              <a:ext cx="2340808" cy="608001"/>
            </a:xfrm>
            <a:custGeom>
              <a:avLst/>
              <a:gdLst/>
              <a:ahLst/>
              <a:cxnLst/>
              <a:rect l="0" t="0" r="0" b="0"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203718"/>
              <a:ext cx="2340808" cy="202692"/>
            </a:xfrm>
            <a:custGeom>
              <a:avLst/>
              <a:gdLst/>
              <a:ahLst/>
              <a:cxnLst/>
              <a:rect l="0" t="0" r="0" b="0"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392735"/>
              <a:ext cx="2340808" cy="418984"/>
            </a:xfrm>
            <a:custGeom>
              <a:avLst/>
              <a:gdLst/>
              <a:ahLst/>
              <a:cxnLst/>
              <a:rect l="0" t="0" r="0" b="0"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320492"/>
              <a:ext cx="2340808" cy="183306"/>
            </a:xfrm>
            <a:custGeom>
              <a:avLst/>
              <a:gdLst/>
              <a:ahLst/>
              <a:cxnLst/>
              <a:rect l="0" t="0" r="0" b="0"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00048" y="2097723"/>
              <a:ext cx="2305989" cy="850042"/>
            </a:xfrm>
            <a:custGeom>
              <a:avLst/>
              <a:gdLst/>
              <a:ahLst/>
              <a:cxnLst/>
              <a:rect l="0" t="0" r="0" b="0"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00048" y="2097723"/>
              <a:ext cx="2305989" cy="378933"/>
            </a:xfrm>
            <a:custGeom>
              <a:avLst/>
              <a:gdLst/>
              <a:ahLst/>
              <a:cxnLst/>
              <a:rect l="0" t="0" r="0" b="0"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00048" y="2328302"/>
              <a:ext cx="2305989" cy="619464"/>
            </a:xfrm>
            <a:custGeom>
              <a:avLst/>
              <a:gdLst/>
              <a:ahLst/>
              <a:cxnLst/>
              <a:rect l="0" t="0" r="0" b="0"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00048" y="2261949"/>
              <a:ext cx="2305989" cy="321232"/>
            </a:xfrm>
            <a:custGeom>
              <a:avLst/>
              <a:gdLst/>
              <a:ahLst/>
              <a:cxnLst/>
              <a:rect l="0" t="0" r="0" b="0"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03334" y="1115332"/>
              <a:ext cx="2334101" cy="686552"/>
            </a:xfrm>
            <a:custGeom>
              <a:avLst/>
              <a:gdLst/>
              <a:ahLst/>
              <a:cxnLst/>
              <a:rect l="0" t="0" r="0" b="0"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03334" y="1115332"/>
              <a:ext cx="2334101" cy="520961"/>
            </a:xfrm>
            <a:custGeom>
              <a:avLst/>
              <a:gdLst/>
              <a:ahLst/>
              <a:cxnLst/>
              <a:rect l="0" t="0" r="0" b="0"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03334" y="1518243"/>
              <a:ext cx="2334101" cy="283641"/>
            </a:xfrm>
            <a:custGeom>
              <a:avLst/>
              <a:gdLst/>
              <a:ahLst/>
              <a:cxnLst/>
              <a:rect l="0" t="0" r="0" b="0"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03334" y="1352320"/>
              <a:ext cx="2334101" cy="358574"/>
            </a:xfrm>
            <a:custGeom>
              <a:avLst/>
              <a:gdLst/>
              <a:ahLst/>
              <a:cxnLst/>
              <a:rect l="0" t="0" r="0" b="0"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057012"/>
              <a:ext cx="2347515" cy="493598"/>
            </a:xfrm>
            <a:custGeom>
              <a:avLst/>
              <a:gdLst/>
              <a:ahLst/>
              <a:cxnLst/>
              <a:rect l="0" t="0" r="0" b="0"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057012"/>
              <a:ext cx="2347515" cy="245806"/>
            </a:xfrm>
            <a:custGeom>
              <a:avLst/>
              <a:gdLst/>
              <a:ahLst/>
              <a:cxnLst/>
              <a:rect l="0" t="0" r="0" b="0"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194967"/>
              <a:ext cx="2347515" cy="355643"/>
            </a:xfrm>
            <a:custGeom>
              <a:avLst/>
              <a:gdLst/>
              <a:ahLst/>
              <a:cxnLst/>
              <a:rect l="0" t="0" r="0" b="0"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122196"/>
              <a:ext cx="2347515" cy="308846"/>
            </a:xfrm>
            <a:custGeom>
              <a:avLst/>
              <a:gdLst/>
              <a:ahLst/>
              <a:cxnLst/>
              <a:rect l="0" t="0" r="0" b="0"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g45"/>
            <p:cNvSpPr/>
            <p:nvPr/>
          </p:nvSpPr>
          <p:spPr>
            <a:xfrm>
              <a:off x="5300048" y="2077116"/>
              <a:ext cx="2346210" cy="543386"/>
            </a:xfrm>
            <a:custGeom>
              <a:avLst/>
              <a:gdLst/>
              <a:ahLst/>
              <a:cxnLst/>
              <a:rect l="0" t="0" r="0" b="0"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2" name="pl46"/>
            <p:cNvSpPr/>
            <p:nvPr/>
          </p:nvSpPr>
          <p:spPr>
            <a:xfrm>
              <a:off x="5300048" y="2077116"/>
              <a:ext cx="2346210" cy="214825"/>
            </a:xfrm>
            <a:custGeom>
              <a:avLst/>
              <a:gdLst/>
              <a:ahLst/>
              <a:cxnLst/>
              <a:rect l="0" t="0" r="0" b="0"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7"/>
            <p:cNvSpPr/>
            <p:nvPr/>
          </p:nvSpPr>
          <p:spPr>
            <a:xfrm>
              <a:off x="5300048" y="2203524"/>
              <a:ext cx="2346210" cy="416979"/>
            </a:xfrm>
            <a:custGeom>
              <a:avLst/>
              <a:gdLst/>
              <a:ahLst/>
              <a:cxnLst/>
              <a:rect l="0" t="0" r="0" b="0"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4" name="pl48"/>
            <p:cNvSpPr/>
            <p:nvPr/>
          </p:nvSpPr>
          <p:spPr>
            <a:xfrm>
              <a:off x="5300048" y="2142002"/>
              <a:ext cx="2346210" cy="313501"/>
            </a:xfrm>
            <a:custGeom>
              <a:avLst/>
              <a:gdLst/>
              <a:ahLst/>
              <a:cxnLst/>
              <a:rect l="0" t="0" r="0" b="0"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g45"/>
            <p:cNvSpPr/>
            <p:nvPr/>
          </p:nvSpPr>
          <p:spPr>
            <a:xfrm>
              <a:off x="8770406" y="1378124"/>
              <a:ext cx="2280443" cy="182491"/>
            </a:xfrm>
            <a:custGeom>
              <a:avLst/>
              <a:gdLst/>
              <a:ahLst/>
              <a:cxnLst/>
              <a:rect l="0" t="0" r="0" b="0"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8" name="pl46"/>
            <p:cNvSpPr/>
            <p:nvPr/>
          </p:nvSpPr>
          <p:spPr>
            <a:xfrm>
              <a:off x="8770406" y="1378124"/>
              <a:ext cx="2280443" cy="49007"/>
            </a:xfrm>
            <a:custGeom>
              <a:avLst/>
              <a:gdLst/>
              <a:ahLst/>
              <a:cxnLst/>
              <a:rect l="0" t="0" r="0" b="0"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9" name="pl47"/>
            <p:cNvSpPr/>
            <p:nvPr/>
          </p:nvSpPr>
          <p:spPr>
            <a:xfrm>
              <a:off x="8770406" y="1547821"/>
              <a:ext cx="2280443" cy="12794"/>
            </a:xfrm>
            <a:custGeom>
              <a:avLst/>
              <a:gdLst/>
              <a:ahLst/>
              <a:cxnLst/>
              <a:rect l="0" t="0" r="0" b="0"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40" name="pl48"/>
            <p:cNvSpPr/>
            <p:nvPr/>
          </p:nvSpPr>
          <p:spPr>
            <a:xfrm>
              <a:off x="8770406" y="1471532"/>
              <a:ext cx="2280443" cy="15039"/>
            </a:xfrm>
            <a:custGeom>
              <a:avLst/>
              <a:gdLst/>
              <a:ahLst/>
              <a:cxnLst/>
              <a:rect l="0" t="0" r="0" b="0"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584" y="205740"/>
            <a:ext cx="10972525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>
                <a:solidFill>
                  <a:srgbClr val="000000"/>
                </a:solidFill>
                <a:latin typeface="Aptos"/>
              </a:rPr>
              <a:t>Signed clinical-step effect from slice curves</a:t>
            </a:r>
            <a:endParaRPr lang="en-US" sz="1800"/>
          </a:p>
        </p:txBody>
      </p:sp>
      <p:sp>
        <p:nvSpPr>
          <p:cNvPr id="3" name="Y Axis Label"/>
          <p:cNvSpPr txBox="1"/>
          <p:nvPr/>
        </p:nvSpPr>
        <p:spPr>
          <a:xfrm>
            <a:off x="243833" y="2468880"/>
            <a:ext cx="1219169" cy="54864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050" b="0">
                <a:solidFill>
                  <a:srgbClr val="000000"/>
                </a:solidFill>
                <a:latin typeface="Aptos"/>
              </a:rPr>
              <a:t>Tissue O2 change (% per clinical increment)</a:t>
            </a:r>
            <a:endParaRPr lang="en-US" sz="1050"/>
          </a:p>
        </p:txBody>
      </p:sp>
      <p:sp>
        <p:nvSpPr>
          <p:cNvPr id="4" name="grid"/>
          <p:cNvSpPr/>
          <p:nvPr/>
        </p:nvSpPr>
        <p:spPr>
          <a:xfrm>
            <a:off x="853418" y="5269724"/>
            <a:ext cx="10972526" cy="9000"/>
          </a:xfrm>
          <a:prstGeom prst="rect">
            <a:avLst/>
          </a:prstGeom>
          <a:solidFill>
            <a:srgbClr val="DDDDDD"/>
          </a:solidFill>
          <a:ln w="9525">
            <a:solidFill>
              <a:srgbClr val="DDDDDD"/>
            </a:solidFill>
          </a:ln>
        </p:spPr>
      </p:sp>
      <p:sp>
        <p:nvSpPr>
          <p:cNvPr id="5" name="tick"/>
          <p:cNvSpPr txBox="1"/>
          <p:nvPr/>
        </p:nvSpPr>
        <p:spPr>
          <a:xfrm>
            <a:off x="60958" y="5219724"/>
            <a:ext cx="731501" cy="1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50" b="0">
                <a:solidFill>
                  <a:srgbClr val="000000"/>
                </a:solidFill>
                <a:latin typeface="Aptos"/>
              </a:rPr>
              <a:t>0</a:t>
            </a:r>
            <a:endParaRPr lang="en-US" sz="850"/>
          </a:p>
        </p:txBody>
      </p:sp>
      <p:sp>
        <p:nvSpPr>
          <p:cNvPr id="6" name="Panel rSO2_Ch1"/>
          <p:cNvSpPr txBox="1"/>
          <p:nvPr/>
        </p:nvSpPr>
        <p:spPr>
          <a:xfrm>
            <a:off x="853418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Left SctO2</a:t>
            </a:r>
            <a:endParaRPr lang="en-US" sz="1150"/>
          </a:p>
        </p:txBody>
      </p:sp>
      <p:sp>
        <p:nvSpPr>
          <p:cNvPr id="7" name="zero"/>
          <p:cNvSpPr/>
          <p:nvPr/>
        </p:nvSpPr>
        <p:spPr>
          <a:xfrm>
            <a:off x="853418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8" name="axis-y"/>
          <p:cNvSpPr/>
          <p:nvPr/>
        </p:nvSpPr>
        <p:spPr>
          <a:xfrm>
            <a:off x="853418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9" name="axis-x"/>
          <p:cNvSpPr/>
          <p:nvPr/>
        </p:nvSpPr>
        <p:spPr>
          <a:xfrm>
            <a:off x="853418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10" name="bar rSO2_Ch1 ET_CO2"/>
          <p:cNvSpPr/>
          <p:nvPr/>
        </p:nvSpPr>
        <p:spPr>
          <a:xfrm>
            <a:off x="1129763" y="2053999"/>
            <a:ext cx="598747" cy="3215725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11" name="err-v"/>
          <p:cNvSpPr/>
          <p:nvPr/>
        </p:nvSpPr>
        <p:spPr>
          <a:xfrm>
            <a:off x="1423137" y="1437967"/>
            <a:ext cx="12000" cy="105097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2" name="err-t"/>
          <p:cNvSpPr/>
          <p:nvPr/>
        </p:nvSpPr>
        <p:spPr>
          <a:xfrm>
            <a:off x="1309387" y="2482944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3" name="err-b"/>
          <p:cNvSpPr/>
          <p:nvPr/>
        </p:nvSpPr>
        <p:spPr>
          <a:xfrm>
            <a:off x="1309387" y="1431967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4" name="xlabel"/>
          <p:cNvSpPr txBox="1"/>
          <p:nvPr/>
        </p:nvSpPr>
        <p:spPr>
          <a:xfrm>
            <a:off x="910989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15" name="bar rSO2_Ch1 TEMP"/>
          <p:cNvSpPr/>
          <p:nvPr/>
        </p:nvSpPr>
        <p:spPr>
          <a:xfrm>
            <a:off x="2281201" y="5056798"/>
            <a:ext cx="598747" cy="212926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16" name="err-v"/>
          <p:cNvSpPr/>
          <p:nvPr/>
        </p:nvSpPr>
        <p:spPr>
          <a:xfrm>
            <a:off x="2574575" y="4884558"/>
            <a:ext cx="12000" cy="368165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7" name="err-t"/>
          <p:cNvSpPr/>
          <p:nvPr/>
        </p:nvSpPr>
        <p:spPr>
          <a:xfrm>
            <a:off x="2460825" y="524672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8" name="err-b"/>
          <p:cNvSpPr/>
          <p:nvPr/>
        </p:nvSpPr>
        <p:spPr>
          <a:xfrm>
            <a:off x="2460825" y="4878558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19" name="xlabel"/>
          <p:cNvSpPr txBox="1"/>
          <p:nvPr/>
        </p:nvSpPr>
        <p:spPr>
          <a:xfrm>
            <a:off x="2062427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20" name="bar rSO2_Ch1 FiO2_new"/>
          <p:cNvSpPr/>
          <p:nvPr/>
        </p:nvSpPr>
        <p:spPr>
          <a:xfrm>
            <a:off x="3432639" y="5042955"/>
            <a:ext cx="598747" cy="226769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21" name="err-v"/>
          <p:cNvSpPr/>
          <p:nvPr/>
        </p:nvSpPr>
        <p:spPr>
          <a:xfrm>
            <a:off x="3726013" y="4809060"/>
            <a:ext cx="12000" cy="610971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2" name="err-t"/>
          <p:cNvSpPr/>
          <p:nvPr/>
        </p:nvSpPr>
        <p:spPr>
          <a:xfrm>
            <a:off x="3612263" y="5414032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3" name="err-b"/>
          <p:cNvSpPr/>
          <p:nvPr/>
        </p:nvSpPr>
        <p:spPr>
          <a:xfrm>
            <a:off x="3612263" y="4803060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24" name="xlabel"/>
          <p:cNvSpPr txBox="1"/>
          <p:nvPr/>
        </p:nvSpPr>
        <p:spPr>
          <a:xfrm>
            <a:off x="3213865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25" name="Panel rSO2_Ch2"/>
          <p:cNvSpPr txBox="1"/>
          <p:nvPr/>
        </p:nvSpPr>
        <p:spPr>
          <a:xfrm>
            <a:off x="4612524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Right SctO2</a:t>
            </a:r>
            <a:endParaRPr lang="en-US" sz="1150"/>
          </a:p>
        </p:txBody>
      </p:sp>
      <p:sp>
        <p:nvSpPr>
          <p:cNvPr id="26" name="zero"/>
          <p:cNvSpPr/>
          <p:nvPr/>
        </p:nvSpPr>
        <p:spPr>
          <a:xfrm>
            <a:off x="4612524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7" name="axis-y"/>
          <p:cNvSpPr/>
          <p:nvPr/>
        </p:nvSpPr>
        <p:spPr>
          <a:xfrm>
            <a:off x="4612524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8" name="axis-x"/>
          <p:cNvSpPr/>
          <p:nvPr/>
        </p:nvSpPr>
        <p:spPr>
          <a:xfrm>
            <a:off x="4612524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29" name="bar rSO2_Ch2 ET_CO2"/>
          <p:cNvSpPr/>
          <p:nvPr/>
        </p:nvSpPr>
        <p:spPr>
          <a:xfrm>
            <a:off x="4888869" y="2238598"/>
            <a:ext cx="598747" cy="3031125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30" name="err-v"/>
          <p:cNvSpPr/>
          <p:nvPr/>
        </p:nvSpPr>
        <p:spPr>
          <a:xfrm>
            <a:off x="5182243" y="1626576"/>
            <a:ext cx="12000" cy="104697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1" name="err-t"/>
          <p:cNvSpPr/>
          <p:nvPr/>
        </p:nvSpPr>
        <p:spPr>
          <a:xfrm>
            <a:off x="5068493" y="266754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2" name="err-b"/>
          <p:cNvSpPr/>
          <p:nvPr/>
        </p:nvSpPr>
        <p:spPr>
          <a:xfrm>
            <a:off x="5068493" y="162057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3" name="xlabel"/>
          <p:cNvSpPr txBox="1"/>
          <p:nvPr/>
        </p:nvSpPr>
        <p:spPr>
          <a:xfrm>
            <a:off x="4670095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34" name="bar rSO2_Ch2 TEMP"/>
          <p:cNvSpPr/>
          <p:nvPr/>
        </p:nvSpPr>
        <p:spPr>
          <a:xfrm>
            <a:off x="6040307" y="4892841"/>
            <a:ext cx="598747" cy="376882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35" name="err-v"/>
          <p:cNvSpPr/>
          <p:nvPr/>
        </p:nvSpPr>
        <p:spPr>
          <a:xfrm>
            <a:off x="6333681" y="4479588"/>
            <a:ext cx="12000" cy="911694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6" name="err-t"/>
          <p:cNvSpPr/>
          <p:nvPr/>
        </p:nvSpPr>
        <p:spPr>
          <a:xfrm>
            <a:off x="6219931" y="538528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7" name="err-b"/>
          <p:cNvSpPr/>
          <p:nvPr/>
        </p:nvSpPr>
        <p:spPr>
          <a:xfrm>
            <a:off x="6219931" y="4473588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38" name="xlabel"/>
          <p:cNvSpPr txBox="1"/>
          <p:nvPr/>
        </p:nvSpPr>
        <p:spPr>
          <a:xfrm>
            <a:off x="5821533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39" name="bar rSO2_Ch2 FiO2_new"/>
          <p:cNvSpPr/>
          <p:nvPr/>
        </p:nvSpPr>
        <p:spPr>
          <a:xfrm>
            <a:off x="7191745" y="5074268"/>
            <a:ext cx="598747" cy="195456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40" name="err-v"/>
          <p:cNvSpPr/>
          <p:nvPr/>
        </p:nvSpPr>
        <p:spPr>
          <a:xfrm>
            <a:off x="7485119" y="4764605"/>
            <a:ext cx="12000" cy="62591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1" name="err-t"/>
          <p:cNvSpPr/>
          <p:nvPr/>
        </p:nvSpPr>
        <p:spPr>
          <a:xfrm>
            <a:off x="7371369" y="538451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2" name="err-b"/>
          <p:cNvSpPr/>
          <p:nvPr/>
        </p:nvSpPr>
        <p:spPr>
          <a:xfrm>
            <a:off x="7371369" y="4758605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43" name="xlabel"/>
          <p:cNvSpPr txBox="1"/>
          <p:nvPr/>
        </p:nvSpPr>
        <p:spPr>
          <a:xfrm>
            <a:off x="6972971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44" name="Panel rSO2_Ch3"/>
          <p:cNvSpPr txBox="1"/>
          <p:nvPr/>
        </p:nvSpPr>
        <p:spPr>
          <a:xfrm>
            <a:off x="8371630" y="617220"/>
            <a:ext cx="3454314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150" b="1">
                <a:solidFill>
                  <a:srgbClr val="000000"/>
                </a:solidFill>
                <a:latin typeface="Aptos"/>
              </a:rPr>
              <a:t>SftO2</a:t>
            </a:r>
            <a:endParaRPr lang="en-US" sz="1150"/>
          </a:p>
        </p:txBody>
      </p:sp>
      <p:sp>
        <p:nvSpPr>
          <p:cNvPr id="45" name="zero"/>
          <p:cNvSpPr/>
          <p:nvPr/>
        </p:nvSpPr>
        <p:spPr>
          <a:xfrm>
            <a:off x="8371630" y="5269724"/>
            <a:ext cx="3454314" cy="13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6" name="axis-y"/>
          <p:cNvSpPr/>
          <p:nvPr/>
        </p:nvSpPr>
        <p:spPr>
          <a:xfrm>
            <a:off x="8371630" y="960120"/>
            <a:ext cx="12000" cy="493776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7" name="axis-x"/>
          <p:cNvSpPr/>
          <p:nvPr/>
        </p:nvSpPr>
        <p:spPr>
          <a:xfrm>
            <a:off x="8371630" y="5897880"/>
            <a:ext cx="3454314" cy="12000"/>
          </a:xfrm>
          <a:prstGeom prst="rect">
            <a:avLst/>
          </a:prstGeom>
          <a:solidFill>
            <a:srgbClr val="555555"/>
          </a:solidFill>
          <a:ln w="9525">
            <a:solidFill>
              <a:srgbClr val="555555"/>
            </a:solidFill>
          </a:ln>
        </p:spPr>
      </p:sp>
      <p:sp>
        <p:nvSpPr>
          <p:cNvPr id="48" name="bar rSO2_Ch3 ET_CO2"/>
          <p:cNvSpPr/>
          <p:nvPr/>
        </p:nvSpPr>
        <p:spPr>
          <a:xfrm>
            <a:off x="8647975" y="3642191"/>
            <a:ext cx="598747" cy="1627532"/>
          </a:xfrm>
          <a:prstGeom prst="rect">
            <a:avLst/>
          </a:prstGeom>
          <a:solidFill>
            <a:srgbClr val="6A5ACD"/>
          </a:solidFill>
          <a:ln w="9525">
            <a:solidFill>
              <a:srgbClr val="333333"/>
            </a:solidFill>
          </a:ln>
        </p:spPr>
      </p:sp>
      <p:sp>
        <p:nvSpPr>
          <p:cNvPr id="49" name="err-v"/>
          <p:cNvSpPr/>
          <p:nvPr/>
        </p:nvSpPr>
        <p:spPr>
          <a:xfrm>
            <a:off x="8941349" y="3491894"/>
            <a:ext cx="12000" cy="33995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0" name="err-t"/>
          <p:cNvSpPr/>
          <p:nvPr/>
        </p:nvSpPr>
        <p:spPr>
          <a:xfrm>
            <a:off x="8827599" y="3825851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1" name="err-b"/>
          <p:cNvSpPr/>
          <p:nvPr/>
        </p:nvSpPr>
        <p:spPr>
          <a:xfrm>
            <a:off x="8827599" y="3485894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2" name="xlabel"/>
          <p:cNvSpPr txBox="1"/>
          <p:nvPr/>
        </p:nvSpPr>
        <p:spPr>
          <a:xfrm>
            <a:off x="8429201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CO2 +5 mmHg</a:t>
            </a:r>
            <a:endParaRPr lang="en-US" sz="780"/>
          </a:p>
        </p:txBody>
      </p:sp>
      <p:sp>
        <p:nvSpPr>
          <p:cNvPr id="53" name="bar rSO2_Ch3 TEMP"/>
          <p:cNvSpPr/>
          <p:nvPr/>
        </p:nvSpPr>
        <p:spPr>
          <a:xfrm>
            <a:off x="9799413" y="4957932"/>
            <a:ext cx="598747" cy="311791"/>
          </a:xfrm>
          <a:prstGeom prst="rect">
            <a:avLst/>
          </a:prstGeom>
          <a:solidFill>
            <a:srgbClr val="4DB6AC"/>
          </a:solidFill>
          <a:ln w="9525">
            <a:solidFill>
              <a:srgbClr val="333333"/>
            </a:solidFill>
          </a:ln>
        </p:spPr>
      </p:sp>
      <p:sp>
        <p:nvSpPr>
          <p:cNvPr id="54" name="err-v"/>
          <p:cNvSpPr/>
          <p:nvPr/>
        </p:nvSpPr>
        <p:spPr>
          <a:xfrm>
            <a:off x="10092787" y="4779626"/>
            <a:ext cx="12000" cy="332767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5" name="err-t"/>
          <p:cNvSpPr/>
          <p:nvPr/>
        </p:nvSpPr>
        <p:spPr>
          <a:xfrm>
            <a:off x="9979037" y="5106393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6" name="err-b"/>
          <p:cNvSpPr/>
          <p:nvPr/>
        </p:nvSpPr>
        <p:spPr>
          <a:xfrm>
            <a:off x="9979037" y="477362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57" name="xlabel"/>
          <p:cNvSpPr txBox="1"/>
          <p:nvPr/>
        </p:nvSpPr>
        <p:spPr>
          <a:xfrm>
            <a:off x="9580639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TEMP +0.5 C</a:t>
            </a:r>
            <a:endParaRPr lang="en-US" sz="780"/>
          </a:p>
        </p:txBody>
      </p:sp>
      <p:sp>
        <p:nvSpPr>
          <p:cNvPr id="58" name="bar rSO2_Ch3 FiO2_new"/>
          <p:cNvSpPr/>
          <p:nvPr/>
        </p:nvSpPr>
        <p:spPr>
          <a:xfrm>
            <a:off x="10950851" y="5258379"/>
            <a:ext cx="598747" cy="15000"/>
          </a:xfrm>
          <a:prstGeom prst="rect">
            <a:avLst/>
          </a:prstGeom>
          <a:solidFill>
            <a:srgbClr val="F05A71"/>
          </a:solidFill>
          <a:ln w="9525">
            <a:solidFill>
              <a:srgbClr val="333333"/>
            </a:solidFill>
          </a:ln>
        </p:spPr>
      </p:sp>
      <p:sp>
        <p:nvSpPr>
          <p:cNvPr id="59" name="err-v"/>
          <p:cNvSpPr/>
          <p:nvPr/>
        </p:nvSpPr>
        <p:spPr>
          <a:xfrm>
            <a:off x="11244225" y="5122047"/>
            <a:ext cx="12000" cy="242338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0" name="err-t"/>
          <p:cNvSpPr/>
          <p:nvPr/>
        </p:nvSpPr>
        <p:spPr>
          <a:xfrm>
            <a:off x="11130475" y="5358386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1" name="err-b"/>
          <p:cNvSpPr/>
          <p:nvPr/>
        </p:nvSpPr>
        <p:spPr>
          <a:xfrm>
            <a:off x="11130475" y="5116047"/>
            <a:ext cx="239499" cy="12000"/>
          </a:xfrm>
          <a:prstGeom prst="rect">
            <a:avLst/>
          </a:prstGeom>
          <a:solidFill>
            <a:srgbClr val="222222"/>
          </a:solidFill>
          <a:ln w="9525">
            <a:solidFill>
              <a:srgbClr val="222222"/>
            </a:solidFill>
          </a:ln>
        </p:spPr>
      </p:sp>
      <p:sp>
        <p:nvSpPr>
          <p:cNvPr id="62" name="xlabel"/>
          <p:cNvSpPr txBox="1"/>
          <p:nvPr/>
        </p:nvSpPr>
        <p:spPr>
          <a:xfrm>
            <a:off x="10732077" y="6000750"/>
            <a:ext cx="1036294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780" b="0">
                <a:solidFill>
                  <a:srgbClr val="000000"/>
                </a:solidFill>
                <a:latin typeface="Aptos"/>
              </a:rPr>
              <a:t>FiO2 +5%</a:t>
            </a:r>
            <a:endParaRPr lang="en-US" sz="780"/>
          </a:p>
        </p:txBody>
      </p:sp>
      <p:sp>
        <p:nvSpPr>
          <p:cNvPr id="63" name="Caption"/>
          <p:cNvSpPr txBox="1"/>
          <p:nvPr/>
        </p:nvSpPr>
        <p:spPr>
          <a:xfrm>
            <a:off x="853418" y="6412230"/>
            <a:ext cx="10484857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>
                <a:solidFill>
                  <a:srgbClr val="555555"/>
                </a:solidFill>
                <a:latin typeface="Aptos"/>
              </a:rPr>
              <a:t>Bars show median signed effect; error bars show IQR across 20 segments within model-input 5%-95% ranges (CO2 24-37 mmHg).</a:t>
            </a:r>
            <a:endParaRPr lang="en-US" sz="8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宽屏</PresentationFormat>
  <Paragraphs>286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Standard Symbols PS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Zhang, Zhao</cp:lastModifiedBy>
  <cp:revision>3</cp:revision>
  <dcterms:created xsi:type="dcterms:W3CDTF">2017-02-13T16:18:36Z</dcterms:created>
  <dcterms:modified xsi:type="dcterms:W3CDTF">2026-06-09T20:13:15Z</dcterms:modified>
  <cp:category/>
</cp:coreProperties>
</file>