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</p:sldIdLst>
  <p:sldSz cx="12191695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523848" y="914400"/>
            <a:ext cx="9144000" cy="5029200"/>
            <a:chOff x="1523848" y="914400"/>
            <a:chExt cx="9144000" cy="5029200"/>
          </a:xfrm>
        </p:grpSpPr>
        <p:sp>
          <p:nvSpPr>
            <p:cNvPr id="3" name="rc3"/>
            <p:cNvSpPr/>
            <p:nvPr/>
          </p:nvSpPr>
          <p:spPr>
            <a:xfrm>
              <a:off x="1523847" y="914400"/>
              <a:ext cx="9144000" cy="5029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523847" y="914400"/>
              <a:ext cx="9144000" cy="5029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26236" y="983989"/>
              <a:ext cx="5852018" cy="448936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426236" y="4435143"/>
              <a:ext cx="5852018" cy="644406"/>
            </a:xfrm>
            <a:prstGeom prst="rect">
              <a:avLst/>
            </a:prstGeom>
            <a:solidFill>
              <a:srgbClr val="FFFF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426236" y="3719136"/>
              <a:ext cx="5852018" cy="644406"/>
            </a:xfrm>
            <a:prstGeom prst="rect">
              <a:avLst/>
            </a:prstGeom>
            <a:solidFill>
              <a:srgbClr val="F5F5F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426236" y="3003129"/>
              <a:ext cx="5852018" cy="644406"/>
            </a:xfrm>
            <a:prstGeom prst="rect">
              <a:avLst/>
            </a:prstGeom>
            <a:solidFill>
              <a:srgbClr val="FFFF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3426236" y="2287121"/>
              <a:ext cx="5852018" cy="644406"/>
            </a:xfrm>
            <a:prstGeom prst="rect">
              <a:avLst/>
            </a:prstGeom>
            <a:solidFill>
              <a:srgbClr val="F5F5F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3426236" y="1571114"/>
              <a:ext cx="5852018" cy="644406"/>
            </a:xfrm>
            <a:prstGeom prst="rect">
              <a:avLst/>
            </a:prstGeom>
            <a:solidFill>
              <a:srgbClr val="FFFF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692237" y="983989"/>
              <a:ext cx="0" cy="4489364"/>
            </a:xfrm>
            <a:custGeom>
              <a:avLst/>
              <a:pathLst>
                <a:path w="0" h="4489364">
                  <a:moveTo>
                    <a:pt x="0" y="448936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1681" cap="flat">
              <a:solidFill>
                <a:srgbClr val="333333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tx12"/>
            <p:cNvSpPr/>
            <p:nvPr/>
          </p:nvSpPr>
          <p:spPr>
            <a:xfrm>
              <a:off x="3766608" y="1519978"/>
              <a:ext cx="458519" cy="7701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>
                  <a:solidFill>
                    <a:srgbClr val="333333">
                      <a:alpha val="100000"/>
                    </a:srgbClr>
                  </a:solidFill>
                  <a:latin typeface="Aptos"/>
                  <a:cs typeface="Aptos"/>
                </a:rPr>
                <a:t>No effect</a:t>
              </a:r>
            </a:p>
          </p:txBody>
        </p:sp>
        <p:sp>
          <p:nvSpPr>
            <p:cNvPr id="13" name="pl13"/>
            <p:cNvSpPr/>
            <p:nvPr/>
          </p:nvSpPr>
          <p:spPr>
            <a:xfrm>
              <a:off x="8988099" y="2004299"/>
              <a:ext cx="0" cy="93080"/>
            </a:xfrm>
            <a:custGeom>
              <a:avLst/>
              <a:pathLst>
                <a:path w="0" h="93080">
                  <a:moveTo>
                    <a:pt x="0" y="9308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1F77B4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886685" y="2050839"/>
              <a:ext cx="2101413" cy="0"/>
            </a:xfrm>
            <a:custGeom>
              <a:avLst/>
              <a:pathLst>
                <a:path w="2101413" h="0">
                  <a:moveTo>
                    <a:pt x="2101413" y="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1F77B4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886685" y="2004299"/>
              <a:ext cx="0" cy="93080"/>
            </a:xfrm>
            <a:custGeom>
              <a:avLst/>
              <a:pathLst>
                <a:path w="0" h="93080">
                  <a:moveTo>
                    <a:pt x="0" y="9308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1F77B4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424176" y="1846777"/>
              <a:ext cx="0" cy="93080"/>
            </a:xfrm>
            <a:custGeom>
              <a:avLst/>
              <a:pathLst>
                <a:path w="0" h="93080">
                  <a:moveTo>
                    <a:pt x="0" y="9308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2CA02C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7478658" y="1893318"/>
              <a:ext cx="945517" cy="0"/>
            </a:xfrm>
            <a:custGeom>
              <a:avLst/>
              <a:pathLst>
                <a:path w="945517" h="0">
                  <a:moveTo>
                    <a:pt x="945517" y="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2CA02C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7478658" y="1846777"/>
              <a:ext cx="0" cy="93080"/>
            </a:xfrm>
            <a:custGeom>
              <a:avLst/>
              <a:pathLst>
                <a:path w="0" h="93080">
                  <a:moveTo>
                    <a:pt x="0" y="9308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2CA02C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367879" y="1689256"/>
              <a:ext cx="0" cy="93080"/>
            </a:xfrm>
            <a:custGeom>
              <a:avLst/>
              <a:pathLst>
                <a:path w="0" h="93080">
                  <a:moveTo>
                    <a:pt x="0" y="9308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D62728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4652726" y="1735796"/>
              <a:ext cx="715152" cy="0"/>
            </a:xfrm>
            <a:custGeom>
              <a:avLst/>
              <a:pathLst>
                <a:path w="715152" h="0">
                  <a:moveTo>
                    <a:pt x="715152" y="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D62728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4652726" y="1689256"/>
              <a:ext cx="0" cy="93080"/>
            </a:xfrm>
            <a:custGeom>
              <a:avLst/>
              <a:pathLst>
                <a:path w="0" h="93080">
                  <a:moveTo>
                    <a:pt x="0" y="9308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D62728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8583537" y="2720306"/>
              <a:ext cx="0" cy="93080"/>
            </a:xfrm>
            <a:custGeom>
              <a:avLst/>
              <a:pathLst>
                <a:path w="0" h="93080">
                  <a:moveTo>
                    <a:pt x="0" y="9308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1F77B4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7287831" y="2766846"/>
              <a:ext cx="1295705" cy="0"/>
            </a:xfrm>
            <a:custGeom>
              <a:avLst/>
              <a:pathLst>
                <a:path w="1295705" h="0">
                  <a:moveTo>
                    <a:pt x="1295705" y="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1F77B4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7287831" y="2720306"/>
              <a:ext cx="0" cy="93080"/>
            </a:xfrm>
            <a:custGeom>
              <a:avLst/>
              <a:pathLst>
                <a:path w="0" h="93080">
                  <a:moveTo>
                    <a:pt x="0" y="9308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1F77B4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492370" y="2562784"/>
              <a:ext cx="0" cy="93080"/>
            </a:xfrm>
            <a:custGeom>
              <a:avLst/>
              <a:pathLst>
                <a:path w="0" h="93080">
                  <a:moveTo>
                    <a:pt x="0" y="9308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2CA02C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7473601" y="2609325"/>
              <a:ext cx="1018769" cy="0"/>
            </a:xfrm>
            <a:custGeom>
              <a:avLst/>
              <a:pathLst>
                <a:path w="1018769" h="0">
                  <a:moveTo>
                    <a:pt x="1018769" y="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2CA02C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7473601" y="2562784"/>
              <a:ext cx="0" cy="93080"/>
            </a:xfrm>
            <a:custGeom>
              <a:avLst/>
              <a:pathLst>
                <a:path w="0" h="93080">
                  <a:moveTo>
                    <a:pt x="0" y="9308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2CA02C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233973" y="2405263"/>
              <a:ext cx="0" cy="93080"/>
            </a:xfrm>
            <a:custGeom>
              <a:avLst/>
              <a:pathLst>
                <a:path w="0" h="93080">
                  <a:moveTo>
                    <a:pt x="0" y="9308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D62728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4570561" y="2451803"/>
              <a:ext cx="663412" cy="0"/>
            </a:xfrm>
            <a:custGeom>
              <a:avLst/>
              <a:pathLst>
                <a:path w="663412" h="0">
                  <a:moveTo>
                    <a:pt x="663412" y="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D62728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570561" y="2405263"/>
              <a:ext cx="0" cy="93080"/>
            </a:xfrm>
            <a:custGeom>
              <a:avLst/>
              <a:pathLst>
                <a:path w="0" h="93080">
                  <a:moveTo>
                    <a:pt x="0" y="9308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D62728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8699712" y="3436313"/>
              <a:ext cx="0" cy="93080"/>
            </a:xfrm>
            <a:custGeom>
              <a:avLst/>
              <a:pathLst>
                <a:path w="0" h="93080">
                  <a:moveTo>
                    <a:pt x="0" y="9308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1F77B4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7359939" y="3482853"/>
              <a:ext cx="1339773" cy="0"/>
            </a:xfrm>
            <a:custGeom>
              <a:avLst/>
              <a:pathLst>
                <a:path w="1339773" h="0">
                  <a:moveTo>
                    <a:pt x="1339773" y="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1F77B4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7359939" y="3436313"/>
              <a:ext cx="0" cy="93080"/>
            </a:xfrm>
            <a:custGeom>
              <a:avLst/>
              <a:pathLst>
                <a:path w="0" h="93080">
                  <a:moveTo>
                    <a:pt x="0" y="9308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1F77B4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634336" y="3278791"/>
              <a:ext cx="0" cy="93080"/>
            </a:xfrm>
            <a:custGeom>
              <a:avLst/>
              <a:pathLst>
                <a:path w="0" h="93080">
                  <a:moveTo>
                    <a:pt x="0" y="9308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2CA02C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7628394" y="3325332"/>
              <a:ext cx="1005941" cy="0"/>
            </a:xfrm>
            <a:custGeom>
              <a:avLst/>
              <a:pathLst>
                <a:path w="1005941" h="0">
                  <a:moveTo>
                    <a:pt x="1005941" y="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2CA02C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7628394" y="3278791"/>
              <a:ext cx="0" cy="93080"/>
            </a:xfrm>
            <a:custGeom>
              <a:avLst/>
              <a:pathLst>
                <a:path w="0" h="93080">
                  <a:moveTo>
                    <a:pt x="0" y="9308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2CA02C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382248" y="3121270"/>
              <a:ext cx="0" cy="93080"/>
            </a:xfrm>
            <a:custGeom>
              <a:avLst/>
              <a:pathLst>
                <a:path w="0" h="93080">
                  <a:moveTo>
                    <a:pt x="0" y="9308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D62728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4680179" y="3167810"/>
              <a:ext cx="702069" cy="0"/>
            </a:xfrm>
            <a:custGeom>
              <a:avLst/>
              <a:pathLst>
                <a:path w="702069" h="0">
                  <a:moveTo>
                    <a:pt x="702069" y="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D62728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4680179" y="3121270"/>
              <a:ext cx="0" cy="93080"/>
            </a:xfrm>
            <a:custGeom>
              <a:avLst/>
              <a:pathLst>
                <a:path w="0" h="93080">
                  <a:moveTo>
                    <a:pt x="0" y="9308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D62728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9012253" y="4152320"/>
              <a:ext cx="0" cy="93080"/>
            </a:xfrm>
            <a:custGeom>
              <a:avLst/>
              <a:pathLst>
                <a:path w="0" h="93080">
                  <a:moveTo>
                    <a:pt x="0" y="9308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1F77B4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6910445" y="4198860"/>
              <a:ext cx="2101808" cy="0"/>
            </a:xfrm>
            <a:custGeom>
              <a:avLst/>
              <a:pathLst>
                <a:path w="2101808" h="0">
                  <a:moveTo>
                    <a:pt x="2101808" y="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1F77B4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6910445" y="4152320"/>
              <a:ext cx="0" cy="93080"/>
            </a:xfrm>
            <a:custGeom>
              <a:avLst/>
              <a:pathLst>
                <a:path w="0" h="93080">
                  <a:moveTo>
                    <a:pt x="0" y="9308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1F77B4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8379904" y="3994798"/>
              <a:ext cx="0" cy="93080"/>
            </a:xfrm>
            <a:custGeom>
              <a:avLst/>
              <a:pathLst>
                <a:path w="0" h="93080">
                  <a:moveTo>
                    <a:pt x="0" y="9308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2CA02C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7382044" y="4041339"/>
              <a:ext cx="997859" cy="0"/>
            </a:xfrm>
            <a:custGeom>
              <a:avLst/>
              <a:pathLst>
                <a:path w="997859" h="0">
                  <a:moveTo>
                    <a:pt x="997859" y="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2CA02C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7382044" y="3994798"/>
              <a:ext cx="0" cy="93080"/>
            </a:xfrm>
            <a:custGeom>
              <a:avLst/>
              <a:pathLst>
                <a:path w="0" h="93080">
                  <a:moveTo>
                    <a:pt x="0" y="9308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2CA02C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5217804" y="3837277"/>
              <a:ext cx="0" cy="93080"/>
            </a:xfrm>
            <a:custGeom>
              <a:avLst/>
              <a:pathLst>
                <a:path w="0" h="93080">
                  <a:moveTo>
                    <a:pt x="0" y="9308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D62728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4371835" y="3883817"/>
              <a:ext cx="845968" cy="0"/>
            </a:xfrm>
            <a:custGeom>
              <a:avLst/>
              <a:pathLst>
                <a:path w="845968" h="0">
                  <a:moveTo>
                    <a:pt x="845968" y="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D62728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4371835" y="3837277"/>
              <a:ext cx="0" cy="93080"/>
            </a:xfrm>
            <a:custGeom>
              <a:avLst/>
              <a:pathLst>
                <a:path w="0" h="93080">
                  <a:moveTo>
                    <a:pt x="0" y="9308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D62728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8583537" y="4868327"/>
              <a:ext cx="0" cy="93080"/>
            </a:xfrm>
            <a:custGeom>
              <a:avLst/>
              <a:pathLst>
                <a:path w="0" h="93080">
                  <a:moveTo>
                    <a:pt x="0" y="9308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1F77B4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7287831" y="4914868"/>
              <a:ext cx="1295705" cy="0"/>
            </a:xfrm>
            <a:custGeom>
              <a:avLst/>
              <a:pathLst>
                <a:path w="1295705" h="0">
                  <a:moveTo>
                    <a:pt x="1295705" y="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1F77B4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7287831" y="4868327"/>
              <a:ext cx="0" cy="93080"/>
            </a:xfrm>
            <a:custGeom>
              <a:avLst/>
              <a:pathLst>
                <a:path w="0" h="93080">
                  <a:moveTo>
                    <a:pt x="0" y="9308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1F77B4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8424176" y="4710805"/>
              <a:ext cx="0" cy="93080"/>
            </a:xfrm>
            <a:custGeom>
              <a:avLst/>
              <a:pathLst>
                <a:path w="0" h="93080">
                  <a:moveTo>
                    <a:pt x="0" y="9308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2CA02C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7478658" y="4757346"/>
              <a:ext cx="945517" cy="0"/>
            </a:xfrm>
            <a:custGeom>
              <a:avLst/>
              <a:pathLst>
                <a:path w="945517" h="0">
                  <a:moveTo>
                    <a:pt x="945517" y="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2CA02C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7478658" y="4710805"/>
              <a:ext cx="0" cy="93080"/>
            </a:xfrm>
            <a:custGeom>
              <a:avLst/>
              <a:pathLst>
                <a:path w="0" h="93080">
                  <a:moveTo>
                    <a:pt x="0" y="9308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2CA02C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5233973" y="4553284"/>
              <a:ext cx="0" cy="93080"/>
            </a:xfrm>
            <a:custGeom>
              <a:avLst/>
              <a:pathLst>
                <a:path w="0" h="93080">
                  <a:moveTo>
                    <a:pt x="0" y="9308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D62728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4570561" y="4599824"/>
              <a:ext cx="663412" cy="0"/>
            </a:xfrm>
            <a:custGeom>
              <a:avLst/>
              <a:pathLst>
                <a:path w="663412" h="0">
                  <a:moveTo>
                    <a:pt x="663412" y="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D62728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4570561" y="4553284"/>
              <a:ext cx="0" cy="93080"/>
            </a:xfrm>
            <a:custGeom>
              <a:avLst/>
              <a:pathLst>
                <a:path w="0" h="93080">
                  <a:moveTo>
                    <a:pt x="0" y="9308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D62728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7947393" y="2012872"/>
              <a:ext cx="75934" cy="75934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7908724" y="1855350"/>
              <a:ext cx="75934" cy="75934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4964570" y="1697829"/>
              <a:ext cx="75934" cy="75934"/>
            </a:xfrm>
            <a:prstGeom prst="ellipse">
              <a:avLst/>
            </a:prstGeom>
            <a:solidFill>
              <a:srgbClr val="D6272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7951598" y="2728879"/>
              <a:ext cx="75934" cy="75934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7979364" y="2571357"/>
              <a:ext cx="75934" cy="75934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4876868" y="2413836"/>
              <a:ext cx="75934" cy="75934"/>
            </a:xfrm>
            <a:prstGeom prst="ellipse">
              <a:avLst/>
            </a:prstGeom>
            <a:solidFill>
              <a:srgbClr val="D6272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8017293" y="3444886"/>
              <a:ext cx="75934" cy="75934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8113989" y="3287364"/>
              <a:ext cx="75934" cy="75934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4996077" y="3129843"/>
              <a:ext cx="75934" cy="75934"/>
            </a:xfrm>
            <a:prstGeom prst="ellipse">
              <a:avLst/>
            </a:prstGeom>
            <a:solidFill>
              <a:srgbClr val="D6272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7938933" y="4160893"/>
              <a:ext cx="75934" cy="75934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7826981" y="4003371"/>
              <a:ext cx="75934" cy="75934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4769552" y="3845850"/>
              <a:ext cx="75934" cy="75934"/>
            </a:xfrm>
            <a:prstGeom prst="ellipse">
              <a:avLst/>
            </a:prstGeom>
            <a:solidFill>
              <a:srgbClr val="D6272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7951598" y="4876900"/>
              <a:ext cx="75934" cy="75934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7908724" y="4719378"/>
              <a:ext cx="75934" cy="75934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4876868" y="4561857"/>
              <a:ext cx="75934" cy="75934"/>
            </a:xfrm>
            <a:prstGeom prst="ellipse">
              <a:avLst/>
            </a:prstGeom>
            <a:solidFill>
              <a:srgbClr val="D6272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3426236" y="983989"/>
              <a:ext cx="0" cy="4489364"/>
            </a:xfrm>
            <a:custGeom>
              <a:avLst/>
              <a:pathLst>
                <a:path w="0" h="4489364">
                  <a:moveTo>
                    <a:pt x="0" y="4489364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tx74"/>
            <p:cNvSpPr/>
            <p:nvPr/>
          </p:nvSpPr>
          <p:spPr>
            <a:xfrm>
              <a:off x="1996534" y="4692978"/>
              <a:ext cx="1303176" cy="1061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Main Model (+ All Three)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1719962" y="3976289"/>
              <a:ext cx="1579748" cy="1067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+ Mean Airway Pressure Only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2214505" y="3260281"/>
              <a:ext cx="1085205" cy="1067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+ Tidal Volume Only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2020470" y="2544274"/>
              <a:ext cx="1279239" cy="1067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+ Respiratory Rate Only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2115286" y="1828949"/>
              <a:ext cx="1184423" cy="1061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Model B (Base Model)</a:t>
              </a:r>
            </a:p>
          </p:txBody>
        </p:sp>
        <p:sp>
          <p:nvSpPr>
            <p:cNvPr id="79" name="pl79"/>
            <p:cNvSpPr/>
            <p:nvPr/>
          </p:nvSpPr>
          <p:spPr>
            <a:xfrm>
              <a:off x="3350320" y="475734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3350320" y="404133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3350320" y="332533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3350320" y="260932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3350320" y="189331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3426236" y="5473353"/>
              <a:ext cx="5852018" cy="0"/>
            </a:xfrm>
            <a:custGeom>
              <a:avLst/>
              <a:pathLst>
                <a:path w="5852018" h="0">
                  <a:moveTo>
                    <a:pt x="0" y="0"/>
                  </a:moveTo>
                  <a:lnTo>
                    <a:pt x="5852018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3692237" y="547335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5179661" y="547335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6667085" y="547335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8154509" y="547335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tx89"/>
            <p:cNvSpPr/>
            <p:nvPr/>
          </p:nvSpPr>
          <p:spPr>
            <a:xfrm>
              <a:off x="3658316" y="5574884"/>
              <a:ext cx="67840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0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5145740" y="5576806"/>
              <a:ext cx="67840" cy="812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6633164" y="5576062"/>
              <a:ext cx="67840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8120589" y="5574884"/>
              <a:ext cx="67840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4868057" y="5713051"/>
              <a:ext cx="93268" cy="1048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Δ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4961326" y="5715062"/>
              <a:ext cx="565398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Tissue O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5526724" y="5774407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5583711" y="5689761"/>
              <a:ext cx="1529432" cy="1281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 saturation (pp),  ET-CO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7113143" y="5774407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7170129" y="5689687"/>
              <a:ext cx="666303" cy="1282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 +5 mmHg</a:t>
              </a:r>
            </a:p>
          </p:txBody>
        </p:sp>
        <p:sp>
          <p:nvSpPr>
            <p:cNvPr id="99" name="rc99"/>
            <p:cNvSpPr/>
            <p:nvPr/>
          </p:nvSpPr>
          <p:spPr>
            <a:xfrm>
              <a:off x="9404780" y="2899704"/>
              <a:ext cx="1193478" cy="65793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00" name="rc100"/>
            <p:cNvSpPr/>
            <p:nvPr/>
          </p:nvSpPr>
          <p:spPr>
            <a:xfrm>
              <a:off x="9468043" y="2962967"/>
              <a:ext cx="177135" cy="177135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9485756" y="3051535"/>
              <a:ext cx="141708" cy="0"/>
            </a:xfrm>
            <a:custGeom>
              <a:avLst/>
              <a:pathLst>
                <a:path w="141708" h="0">
                  <a:moveTo>
                    <a:pt x="0" y="0"/>
                  </a:moveTo>
                  <a:lnTo>
                    <a:pt x="141708" y="0"/>
                  </a:lnTo>
                </a:path>
              </a:pathLst>
            </a:custGeom>
            <a:ln w="17615" cap="flat">
              <a:solidFill>
                <a:srgbClr val="1F77B4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9518643" y="3013568"/>
              <a:ext cx="75934" cy="75934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" name="rc103"/>
            <p:cNvSpPr/>
            <p:nvPr/>
          </p:nvSpPr>
          <p:spPr>
            <a:xfrm>
              <a:off x="9468043" y="3140103"/>
              <a:ext cx="177135" cy="177135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9485756" y="3228671"/>
              <a:ext cx="141708" cy="0"/>
            </a:xfrm>
            <a:custGeom>
              <a:avLst/>
              <a:pathLst>
                <a:path w="141708" h="0">
                  <a:moveTo>
                    <a:pt x="0" y="0"/>
                  </a:moveTo>
                  <a:lnTo>
                    <a:pt x="141708" y="0"/>
                  </a:lnTo>
                </a:path>
              </a:pathLst>
            </a:custGeom>
            <a:ln w="17615" cap="flat">
              <a:solidFill>
                <a:srgbClr val="2CA02C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9518643" y="3190703"/>
              <a:ext cx="75934" cy="75934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" name="rc106"/>
            <p:cNvSpPr/>
            <p:nvPr/>
          </p:nvSpPr>
          <p:spPr>
            <a:xfrm>
              <a:off x="9468043" y="3317239"/>
              <a:ext cx="177135" cy="177135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9485756" y="3405807"/>
              <a:ext cx="141708" cy="0"/>
            </a:xfrm>
            <a:custGeom>
              <a:avLst/>
              <a:pathLst>
                <a:path w="141708" h="0">
                  <a:moveTo>
                    <a:pt x="0" y="0"/>
                  </a:moveTo>
                  <a:lnTo>
                    <a:pt x="141708" y="0"/>
                  </a:lnTo>
                </a:path>
              </a:pathLst>
            </a:custGeom>
            <a:ln w="17615" cap="flat">
              <a:solidFill>
                <a:srgbClr val="D62728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9518643" y="3367839"/>
              <a:ext cx="75934" cy="75934"/>
            </a:xfrm>
            <a:prstGeom prst="ellipse">
              <a:avLst/>
            </a:prstGeom>
            <a:solidFill>
              <a:srgbClr val="D6272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" name="tx109"/>
            <p:cNvSpPr/>
            <p:nvPr/>
          </p:nvSpPr>
          <p:spPr>
            <a:xfrm>
              <a:off x="9708441" y="2981028"/>
              <a:ext cx="756356" cy="112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Left SctO₂ (%)</a:t>
              </a:r>
            </a:p>
          </p:txBody>
        </p:sp>
        <p:sp>
          <p:nvSpPr>
            <p:cNvPr id="110" name="tx110"/>
            <p:cNvSpPr/>
            <p:nvPr/>
          </p:nvSpPr>
          <p:spPr>
            <a:xfrm>
              <a:off x="9708441" y="3158163"/>
              <a:ext cx="826554" cy="112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Right SctO₂ (%)</a:t>
              </a:r>
            </a:p>
          </p:txBody>
        </p:sp>
        <p:sp>
          <p:nvSpPr>
            <p:cNvPr id="111" name="tx111"/>
            <p:cNvSpPr/>
            <p:nvPr/>
          </p:nvSpPr>
          <p:spPr>
            <a:xfrm>
              <a:off x="9708441" y="3335299"/>
              <a:ext cx="492497" cy="112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SftO₂ (%)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666848" y="1143000"/>
            <a:ext cx="6858000" cy="4572000"/>
            <a:chOff x="2666848" y="1143000"/>
            <a:chExt cx="6858000" cy="4572000"/>
          </a:xfrm>
        </p:grpSpPr>
        <p:sp>
          <p:nvSpPr>
            <p:cNvPr id="3" name="rc3"/>
            <p:cNvSpPr/>
            <p:nvPr/>
          </p:nvSpPr>
          <p:spPr>
            <a:xfrm>
              <a:off x="2666847" y="1143000"/>
              <a:ext cx="6858000" cy="457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666847" y="1143000"/>
              <a:ext cx="6858000" cy="457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4480668" y="1212589"/>
              <a:ext cx="3754714" cy="427536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4598003" y="1294807"/>
              <a:ext cx="1173348" cy="822185"/>
            </a:xfrm>
            <a:prstGeom prst="rect">
              <a:avLst/>
            </a:prstGeom>
            <a:solidFill>
              <a:srgbClr val="4F86C6">
                <a:alpha val="100000"/>
              </a:srgbClr>
            </a:solidFill>
            <a:ln w="2439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5771351" y="1294807"/>
              <a:ext cx="1173348" cy="822185"/>
            </a:xfrm>
            <a:prstGeom prst="rect">
              <a:avLst/>
            </a:prstGeom>
            <a:solidFill>
              <a:srgbClr val="4F86C6">
                <a:alpha val="100000"/>
              </a:srgbClr>
            </a:solidFill>
            <a:ln w="2439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6944699" y="1294807"/>
              <a:ext cx="1173348" cy="822185"/>
            </a:xfrm>
            <a:prstGeom prst="rect">
              <a:avLst/>
            </a:prstGeom>
            <a:solidFill>
              <a:srgbClr val="4F86C6">
                <a:alpha val="100000"/>
              </a:srgbClr>
            </a:solidFill>
            <a:ln w="2439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598003" y="2116993"/>
              <a:ext cx="1173348" cy="822185"/>
            </a:xfrm>
            <a:prstGeom prst="rect">
              <a:avLst/>
            </a:prstGeom>
            <a:solidFill>
              <a:srgbClr val="4F86C6">
                <a:alpha val="100000"/>
              </a:srgbClr>
            </a:solidFill>
            <a:ln w="2439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5771351" y="2116993"/>
              <a:ext cx="1173348" cy="822185"/>
            </a:xfrm>
            <a:prstGeom prst="rect">
              <a:avLst/>
            </a:prstGeom>
            <a:solidFill>
              <a:srgbClr val="4F86C6">
                <a:alpha val="100000"/>
              </a:srgbClr>
            </a:solidFill>
            <a:ln w="2439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6944699" y="2116993"/>
              <a:ext cx="1173348" cy="822185"/>
            </a:xfrm>
            <a:prstGeom prst="rect">
              <a:avLst/>
            </a:prstGeom>
            <a:solidFill>
              <a:srgbClr val="4F86C6">
                <a:alpha val="100000"/>
              </a:srgbClr>
            </a:solidFill>
            <a:ln w="2439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598003" y="2939178"/>
              <a:ext cx="1173348" cy="822185"/>
            </a:xfrm>
            <a:prstGeom prst="rect">
              <a:avLst/>
            </a:prstGeom>
            <a:solidFill>
              <a:srgbClr val="4F86C6">
                <a:alpha val="100000"/>
              </a:srgbClr>
            </a:solidFill>
            <a:ln w="2439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5771351" y="2939178"/>
              <a:ext cx="1173348" cy="822185"/>
            </a:xfrm>
            <a:prstGeom prst="rect">
              <a:avLst/>
            </a:prstGeom>
            <a:solidFill>
              <a:srgbClr val="4F86C6">
                <a:alpha val="100000"/>
              </a:srgbClr>
            </a:solidFill>
            <a:ln w="2439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6944699" y="2939178"/>
              <a:ext cx="1173348" cy="822185"/>
            </a:xfrm>
            <a:prstGeom prst="rect">
              <a:avLst/>
            </a:prstGeom>
            <a:solidFill>
              <a:srgbClr val="4F86C6">
                <a:alpha val="100000"/>
              </a:srgbClr>
            </a:solidFill>
            <a:ln w="2439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598003" y="3761364"/>
              <a:ext cx="1173348" cy="822185"/>
            </a:xfrm>
            <a:prstGeom prst="rect">
              <a:avLst/>
            </a:prstGeom>
            <a:solidFill>
              <a:srgbClr val="4F86C6">
                <a:alpha val="100000"/>
              </a:srgbClr>
            </a:solidFill>
            <a:ln w="2439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5771351" y="3761364"/>
              <a:ext cx="1173348" cy="822185"/>
            </a:xfrm>
            <a:prstGeom prst="rect">
              <a:avLst/>
            </a:prstGeom>
            <a:solidFill>
              <a:srgbClr val="4F86C6">
                <a:alpha val="100000"/>
              </a:srgbClr>
            </a:solidFill>
            <a:ln w="2439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6944699" y="3761364"/>
              <a:ext cx="1173348" cy="822185"/>
            </a:xfrm>
            <a:prstGeom prst="rect">
              <a:avLst/>
            </a:prstGeom>
            <a:solidFill>
              <a:srgbClr val="4F86C6">
                <a:alpha val="100000"/>
              </a:srgbClr>
            </a:solidFill>
            <a:ln w="2439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598003" y="4583550"/>
              <a:ext cx="1173348" cy="822185"/>
            </a:xfrm>
            <a:prstGeom prst="rect">
              <a:avLst/>
            </a:prstGeom>
            <a:solidFill>
              <a:srgbClr val="4F86C6">
                <a:alpha val="100000"/>
              </a:srgbClr>
            </a:solidFill>
            <a:ln w="2439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771351" y="4583550"/>
              <a:ext cx="1173348" cy="822185"/>
            </a:xfrm>
            <a:prstGeom prst="rect">
              <a:avLst/>
            </a:prstGeom>
            <a:solidFill>
              <a:srgbClr val="4F86C6">
                <a:alpha val="100000"/>
              </a:srgbClr>
            </a:solidFill>
            <a:ln w="2439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6944699" y="4583550"/>
              <a:ext cx="1173348" cy="822185"/>
            </a:xfrm>
            <a:prstGeom prst="rect">
              <a:avLst/>
            </a:prstGeom>
            <a:solidFill>
              <a:srgbClr val="4F86C6">
                <a:alpha val="100000"/>
              </a:srgbClr>
            </a:solidFill>
            <a:ln w="2439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tx21"/>
            <p:cNvSpPr/>
            <p:nvPr/>
          </p:nvSpPr>
          <p:spPr>
            <a:xfrm>
              <a:off x="5054069" y="1660777"/>
              <a:ext cx="261216" cy="902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8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1" b="1">
                  <a:solidFill>
                    <a:srgbClr val="1A1A1A">
                      <a:alpha val="100000"/>
                    </a:srgbClr>
                  </a:solidFill>
                  <a:latin typeface="Aptos"/>
                  <a:cs typeface="Aptos"/>
                </a:rPr>
                <a:t>2.89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6227417" y="1660777"/>
              <a:ext cx="261216" cy="902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8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1" b="1">
                  <a:solidFill>
                    <a:srgbClr val="1A1A1A">
                      <a:alpha val="100000"/>
                    </a:srgbClr>
                  </a:solidFill>
                  <a:latin typeface="Aptos"/>
                  <a:cs typeface="Aptos"/>
                </a:rPr>
                <a:t>2.86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7400765" y="1660777"/>
              <a:ext cx="261216" cy="902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8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1" b="1">
                  <a:solidFill>
                    <a:srgbClr val="1A1A1A">
                      <a:alpha val="100000"/>
                    </a:srgbClr>
                  </a:solidFill>
                  <a:latin typeface="Aptos"/>
                  <a:cs typeface="Aptos"/>
                </a:rPr>
                <a:t>0.88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5054069" y="2482963"/>
              <a:ext cx="261216" cy="902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8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1" b="1">
                  <a:solidFill>
                    <a:srgbClr val="1A1A1A">
                      <a:alpha val="100000"/>
                    </a:srgbClr>
                  </a:solidFill>
                  <a:latin typeface="Aptos"/>
                  <a:cs typeface="Aptos"/>
                </a:rPr>
                <a:t>2.89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6227417" y="2482963"/>
              <a:ext cx="261216" cy="902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8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1" b="1">
                  <a:solidFill>
                    <a:srgbClr val="1A1A1A">
                      <a:alpha val="100000"/>
                    </a:srgbClr>
                  </a:solidFill>
                  <a:latin typeface="Aptos"/>
                  <a:cs typeface="Aptos"/>
                </a:rPr>
                <a:t>2.91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7400765" y="2482963"/>
              <a:ext cx="261216" cy="902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8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1" b="1">
                  <a:solidFill>
                    <a:srgbClr val="1A1A1A">
                      <a:alpha val="100000"/>
                    </a:srgbClr>
                  </a:solidFill>
                  <a:latin typeface="Aptos"/>
                  <a:cs typeface="Aptos"/>
                </a:rPr>
                <a:t>0.82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5054069" y="3305148"/>
              <a:ext cx="261216" cy="902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8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1" b="1">
                  <a:solidFill>
                    <a:srgbClr val="1A1A1A">
                      <a:alpha val="100000"/>
                    </a:srgbClr>
                  </a:solidFill>
                  <a:latin typeface="Aptos"/>
                  <a:cs typeface="Aptos"/>
                </a:rPr>
                <a:t>2.93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227417" y="3305148"/>
              <a:ext cx="261216" cy="902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8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1" b="1">
                  <a:solidFill>
                    <a:srgbClr val="1A1A1A">
                      <a:alpha val="100000"/>
                    </a:srgbClr>
                  </a:solidFill>
                  <a:latin typeface="Aptos"/>
                  <a:cs typeface="Aptos"/>
                </a:rPr>
                <a:t>3.00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7400765" y="3305148"/>
              <a:ext cx="261216" cy="902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8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1" b="1">
                  <a:solidFill>
                    <a:srgbClr val="1A1A1A">
                      <a:alpha val="100000"/>
                    </a:srgbClr>
                  </a:solidFill>
                  <a:latin typeface="Aptos"/>
                  <a:cs typeface="Aptos"/>
                </a:rPr>
                <a:t>0.90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5054069" y="4127334"/>
              <a:ext cx="261216" cy="902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8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1" b="1">
                  <a:solidFill>
                    <a:srgbClr val="1A1A1A">
                      <a:alpha val="100000"/>
                    </a:srgbClr>
                  </a:solidFill>
                  <a:latin typeface="Aptos"/>
                  <a:cs typeface="Aptos"/>
                </a:rPr>
                <a:t>2.88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227417" y="4127334"/>
              <a:ext cx="261216" cy="902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8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1" b="1">
                  <a:solidFill>
                    <a:srgbClr val="1A1A1A">
                      <a:alpha val="100000"/>
                    </a:srgbClr>
                  </a:solidFill>
                  <a:latin typeface="Aptos"/>
                  <a:cs typeface="Aptos"/>
                </a:rPr>
                <a:t>2.81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7400765" y="4127334"/>
              <a:ext cx="261216" cy="902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8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1" b="1">
                  <a:solidFill>
                    <a:srgbClr val="1A1A1A">
                      <a:alpha val="100000"/>
                    </a:srgbClr>
                  </a:solidFill>
                  <a:latin typeface="Aptos"/>
                  <a:cs typeface="Aptos"/>
                </a:rPr>
                <a:t>0.75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5054069" y="4949520"/>
              <a:ext cx="261216" cy="902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8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1" b="1">
                  <a:solidFill>
                    <a:srgbClr val="1A1A1A">
                      <a:alpha val="100000"/>
                    </a:srgbClr>
                  </a:solidFill>
                  <a:latin typeface="Aptos"/>
                  <a:cs typeface="Aptos"/>
                </a:rPr>
                <a:t>2.89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227417" y="4949520"/>
              <a:ext cx="261216" cy="902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8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1" b="1">
                  <a:solidFill>
                    <a:srgbClr val="1A1A1A">
                      <a:alpha val="100000"/>
                    </a:srgbClr>
                  </a:solidFill>
                  <a:latin typeface="Aptos"/>
                  <a:cs typeface="Aptos"/>
                </a:rPr>
                <a:t>2.86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400765" y="4949520"/>
              <a:ext cx="261216" cy="902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8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1" b="1">
                  <a:solidFill>
                    <a:srgbClr val="1A1A1A">
                      <a:alpha val="100000"/>
                    </a:srgbClr>
                  </a:solidFill>
                  <a:latin typeface="Aptos"/>
                  <a:cs typeface="Aptos"/>
                </a:rPr>
                <a:t>0.82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114229" y="4930274"/>
              <a:ext cx="1303176" cy="1061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Main Model (+ All Three)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2837657" y="4107407"/>
              <a:ext cx="1579748" cy="1067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+ Mean Airway Pressure Only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3332200" y="3285221"/>
              <a:ext cx="1085205" cy="1067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+ Tidal Volume Only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3138165" y="2463035"/>
              <a:ext cx="1279239" cy="1067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+ Respiratory Rate Only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3232981" y="1641532"/>
              <a:ext cx="1184423" cy="1061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Model B (Base Model)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4909066" y="5509791"/>
              <a:ext cx="551222" cy="112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Left SctO₂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047315" y="5509791"/>
              <a:ext cx="621419" cy="112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Right SctO₂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7387692" y="5509791"/>
              <a:ext cx="287362" cy="112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SftO₂</a:t>
              </a:r>
            </a:p>
          </p:txBody>
        </p:sp>
        <p:sp>
          <p:nvSpPr>
            <p:cNvPr id="44" name="rc44"/>
            <p:cNvSpPr/>
            <p:nvPr/>
          </p:nvSpPr>
          <p:spPr>
            <a:xfrm>
              <a:off x="8361908" y="2936250"/>
              <a:ext cx="1093350" cy="828041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45" name="tx45"/>
            <p:cNvSpPr/>
            <p:nvPr/>
          </p:nvSpPr>
          <p:spPr>
            <a:xfrm>
              <a:off x="8425171" y="2987886"/>
              <a:ext cx="966824" cy="1067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Bootstrap 95%CI</a:t>
              </a:r>
            </a:p>
          </p:txBody>
        </p:sp>
        <p:sp>
          <p:nvSpPr>
            <p:cNvPr id="46" name="rc46"/>
            <p:cNvSpPr/>
            <p:nvPr/>
          </p:nvSpPr>
          <p:spPr>
            <a:xfrm>
              <a:off x="8425171" y="3169622"/>
              <a:ext cx="177135" cy="177135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8441371" y="3185822"/>
              <a:ext cx="144735" cy="144735"/>
            </a:xfrm>
            <a:prstGeom prst="rect">
              <a:avLst/>
            </a:prstGeom>
            <a:solidFill>
              <a:srgbClr val="4F86C6">
                <a:alpha val="100000"/>
              </a:srgbClr>
            </a:solidFill>
            <a:ln w="2439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8425171" y="3346758"/>
              <a:ext cx="177135" cy="177135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8425171" y="3523894"/>
              <a:ext cx="177135" cy="177135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8665569" y="3214224"/>
              <a:ext cx="548865" cy="857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95%CI &gt; 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665569" y="3391359"/>
              <a:ext cx="540866" cy="857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95%CI ∋ 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665569" y="3568495"/>
              <a:ext cx="548865" cy="857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95%CI &lt; 0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zz86</cp:lastModifiedBy>
  <cp:revision>3</cp:revision>
  <dcterms:created xsi:type="dcterms:W3CDTF">2017-02-13T16:18:36Z</dcterms:created>
  <dcterms:modified xsi:type="dcterms:W3CDTF">2026-05-19T18:30:14Z</dcterms:modified>
  <cp:category/>
</cp:coreProperties>
</file>