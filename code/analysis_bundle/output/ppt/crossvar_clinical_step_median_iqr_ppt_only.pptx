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2200" b="1">
                <a:solidFill>
                  <a:srgbClr val="111111"/>
                </a:solidFill>
              </a:rPr>
              <a:t>Clinical-step effects across model-input 5%-95% windows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1234440"/>
            <a:ext cx="10515600" cy="21945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solidFill>
                  <a:srgbClr val="222222"/>
                </a:solidFill>
              </a:rPr>
              <a:t>Method: for each exposure and outcome, the final model fitting-sample 5%-95% range was split into 20 equal-width segments. Each segment effect is the adjusted mean curve slope multiplied by a clinically meaningful increment; the summary is median (IQR) across the 20 segment effects.</a:t>
            </a:r>
          </a:p>
          <a:p>
            <a:pPr algn="l"/>
            <a:r>
              <a:rPr lang="en-US" sz="1500">
                <a:solidFill>
                  <a:srgbClr val="222222"/>
                </a:solidFill>
              </a:rPr>
              <a:t/>
            </a:r>
          </a:p>
          <a:p>
            <a:pPr algn="l"/>
            <a:r>
              <a:rPr lang="en-US" sz="1500">
                <a:solidFill>
                  <a:srgbClr val="222222"/>
                </a:solidFill>
              </a:rPr>
              <a:t>Primary exposures: EtCO2 +5 mmHg, FiO2 +5 percentage points, temperature +0.5 C.</a:t>
            </a:r>
          </a:p>
          <a:p>
            <a:pPr algn="l"/>
            <a:r>
              <a:rPr lang="en-US" sz="1500">
                <a:solidFill>
                  <a:srgbClr val="222222"/>
                </a:solidFill>
              </a:rPr>
              <a:t>Sensitivity exposures requested: MAP +5 mmHg and CI +0.05. Current MAP/CI rows are marked missing until MAP/CI slice curves are exported from the model run.</a:t>
            </a:r>
          </a:p>
        </p:txBody>
      </p:sp>
      <p:sp>
        <p:nvSpPr>
          <p:cNvPr id="4" name="Rect 4"/>
          <p:cNvSpPr/>
          <p:nvPr/>
        </p:nvSpPr>
        <p:spPr>
          <a:xfrm>
            <a:off x="822960" y="3886200"/>
            <a:ext cx="1042416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1051560" y="404164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400" b="1">
                <a:solidFill>
                  <a:srgbClr val="111111"/>
                </a:solidFill>
              </a:rPr>
              <a:t>Primary table rows: 9/9 complete. Sensitivity rows: 15 total, 6 missing.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2200" b="1">
                <a:solidFill>
                  <a:srgbClr val="111111"/>
                </a:solidFill>
              </a:rPr>
              <a:t>Median clinical-step effect, primary exposures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6217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100">
                <a:solidFill>
                  <a:srgbClr val="444444"/>
                </a:solidFill>
              </a:rPr>
              <a:t>Error bars show IQR across 20 segments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37160" y="109728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>
                <a:solidFill>
                  <a:srgbClr val="444444"/>
                </a:solidFill>
              </a:rPr>
              <a:t>Delta rSO2</a:t>
            </a:r>
          </a:p>
        </p:txBody>
      </p:sp>
      <p:sp>
        <p:nvSpPr>
          <p:cNvPr id="5" name="Rect 5"/>
          <p:cNvSpPr/>
          <p:nvPr/>
        </p:nvSpPr>
        <p:spPr>
          <a:xfrm>
            <a:off x="777240" y="5532120"/>
            <a:ext cx="10789920" cy="548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228600" y="544982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800">
                <a:solidFill>
                  <a:srgbClr val="444444"/>
                </a:solidFill>
              </a:rPr>
              <a:t>-0.5</a:t>
            </a:r>
          </a:p>
        </p:txBody>
      </p:sp>
      <p:sp>
        <p:nvSpPr>
          <p:cNvPr id="7" name="Rect 7"/>
          <p:cNvSpPr/>
          <p:nvPr/>
        </p:nvSpPr>
        <p:spPr>
          <a:xfrm>
            <a:off x="777240" y="4983480"/>
            <a:ext cx="10789920" cy="548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228600" y="49011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80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9" name="Rect 9"/>
          <p:cNvSpPr/>
          <p:nvPr/>
        </p:nvSpPr>
        <p:spPr>
          <a:xfrm>
            <a:off x="777240" y="4434840"/>
            <a:ext cx="10789920" cy="548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228600" y="435254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800">
                <a:solidFill>
                  <a:srgbClr val="444444"/>
                </a:solidFill>
              </a:rPr>
              <a:t>0.5</a:t>
            </a:r>
          </a:p>
        </p:txBody>
      </p:sp>
      <p:sp>
        <p:nvSpPr>
          <p:cNvPr id="11" name="Rect 11"/>
          <p:cNvSpPr/>
          <p:nvPr/>
        </p:nvSpPr>
        <p:spPr>
          <a:xfrm>
            <a:off x="777240" y="3886200"/>
            <a:ext cx="10789920" cy="548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228600" y="380390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80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13" name="Rect 13"/>
          <p:cNvSpPr/>
          <p:nvPr/>
        </p:nvSpPr>
        <p:spPr>
          <a:xfrm>
            <a:off x="777240" y="3337560"/>
            <a:ext cx="10789920" cy="548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228600" y="325526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800">
                <a:solidFill>
                  <a:srgbClr val="444444"/>
                </a:solidFill>
              </a:rPr>
              <a:t>1.5</a:t>
            </a:r>
          </a:p>
        </p:txBody>
      </p:sp>
      <p:sp>
        <p:nvSpPr>
          <p:cNvPr id="15" name="Rect 15"/>
          <p:cNvSpPr/>
          <p:nvPr/>
        </p:nvSpPr>
        <p:spPr>
          <a:xfrm>
            <a:off x="777240" y="2788920"/>
            <a:ext cx="10789920" cy="548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228600" y="270662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80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17" name="Rect 17"/>
          <p:cNvSpPr/>
          <p:nvPr/>
        </p:nvSpPr>
        <p:spPr>
          <a:xfrm>
            <a:off x="777240" y="2240280"/>
            <a:ext cx="10789920" cy="548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228600" y="21579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800">
                <a:solidFill>
                  <a:srgbClr val="444444"/>
                </a:solidFill>
              </a:rPr>
              <a:t>2.5</a:t>
            </a:r>
          </a:p>
        </p:txBody>
      </p:sp>
      <p:sp>
        <p:nvSpPr>
          <p:cNvPr id="19" name="Rect 19"/>
          <p:cNvSpPr/>
          <p:nvPr/>
        </p:nvSpPr>
        <p:spPr>
          <a:xfrm>
            <a:off x="777240" y="1691640"/>
            <a:ext cx="10789920" cy="548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228600" y="160934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80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21" name="Rect 21"/>
          <p:cNvSpPr/>
          <p:nvPr/>
        </p:nvSpPr>
        <p:spPr>
          <a:xfrm>
            <a:off x="777240" y="1143000"/>
            <a:ext cx="10789920" cy="548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228600" y="106070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800">
                <a:solidFill>
                  <a:srgbClr val="444444"/>
                </a:solidFill>
              </a:rPr>
              <a:t>3.5</a:t>
            </a:r>
          </a:p>
        </p:txBody>
      </p:sp>
      <p:sp>
        <p:nvSpPr>
          <p:cNvPr id="23" name="Rect 23"/>
          <p:cNvSpPr/>
          <p:nvPr/>
        </p:nvSpPr>
        <p:spPr>
          <a:xfrm>
            <a:off x="777240" y="4983480"/>
            <a:ext cx="10789920" cy="10973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822960" y="5696712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100" b="1">
                <a:solidFill>
                  <a:srgbClr val="111111"/>
                </a:solidFill>
              </a:rPr>
              <a:t>Left SctO2</a:t>
            </a:r>
          </a:p>
        </p:txBody>
      </p:sp>
      <p:sp>
        <p:nvSpPr>
          <p:cNvPr id="25" name="Rect 25"/>
          <p:cNvSpPr/>
          <p:nvPr/>
        </p:nvSpPr>
        <p:spPr>
          <a:xfrm>
            <a:off x="1571244" y="2228268"/>
            <a:ext cx="210312" cy="27552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1662684" y="1700457"/>
            <a:ext cx="27432" cy="90047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1612392" y="2600927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1612392" y="1700457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1475232" y="5971032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800">
                <a:solidFill>
                  <a:srgbClr val="111111"/>
                </a:solidFill>
              </a:rPr>
              <a:t>EtCO2</a:t>
            </a:r>
          </a:p>
        </p:txBody>
      </p:sp>
      <p:sp>
        <p:nvSpPr>
          <p:cNvPr id="30" name="Rect 30"/>
          <p:cNvSpPr/>
          <p:nvPr/>
        </p:nvSpPr>
        <p:spPr>
          <a:xfrm>
            <a:off x="2470404" y="4789186"/>
            <a:ext cx="210312" cy="19429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2561844" y="4588786"/>
            <a:ext cx="27432" cy="52347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2511552" y="5112263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2511552" y="4588786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2374392" y="5971032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800">
                <a:solidFill>
                  <a:srgbClr val="111111"/>
                </a:solidFill>
              </a:rPr>
              <a:t>FiO2</a:t>
            </a:r>
          </a:p>
        </p:txBody>
      </p:sp>
      <p:sp>
        <p:nvSpPr>
          <p:cNvPr id="35" name="Rect 35"/>
          <p:cNvSpPr/>
          <p:nvPr/>
        </p:nvSpPr>
        <p:spPr>
          <a:xfrm>
            <a:off x="3369564" y="4801046"/>
            <a:ext cx="210312" cy="18243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3461004" y="4653472"/>
            <a:ext cx="27432" cy="31544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3410712" y="4968914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3410712" y="4653472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3273552" y="5971032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800">
                <a:solidFill>
                  <a:srgbClr val="111111"/>
                </a:solidFill>
              </a:rPr>
              <a:t>Temperature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4419600" y="5696712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100" b="1">
                <a:solidFill>
                  <a:srgbClr val="111111"/>
                </a:solidFill>
              </a:rPr>
              <a:t>Right SctO2</a:t>
            </a:r>
          </a:p>
        </p:txBody>
      </p:sp>
      <p:sp>
        <p:nvSpPr>
          <p:cNvPr id="41" name="Rect 41"/>
          <p:cNvSpPr/>
          <p:nvPr/>
        </p:nvSpPr>
        <p:spPr>
          <a:xfrm>
            <a:off x="5167884" y="2386432"/>
            <a:ext cx="210312" cy="2597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5259324" y="1862055"/>
            <a:ext cx="27432" cy="89703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5209032" y="2759092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5209032" y="1862055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5071872" y="5971032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800">
                <a:solidFill>
                  <a:srgbClr val="111111"/>
                </a:solidFill>
              </a:rPr>
              <a:t>EtCO2</a:t>
            </a:r>
          </a:p>
        </p:txBody>
      </p:sp>
      <p:sp>
        <p:nvSpPr>
          <p:cNvPr id="46" name="Rect 46"/>
          <p:cNvSpPr/>
          <p:nvPr/>
        </p:nvSpPr>
        <p:spPr>
          <a:xfrm>
            <a:off x="6067044" y="4816015"/>
            <a:ext cx="210312" cy="167465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6158484" y="4550698"/>
            <a:ext cx="27432" cy="53627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6108192" y="5086974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6108192" y="4550698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5971032" y="5971032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800">
                <a:solidFill>
                  <a:srgbClr val="111111"/>
                </a:solidFill>
              </a:rPr>
              <a:t>FiO2</a:t>
            </a:r>
          </a:p>
        </p:txBody>
      </p:sp>
      <p:sp>
        <p:nvSpPr>
          <p:cNvPr id="51" name="Rect 51"/>
          <p:cNvSpPr/>
          <p:nvPr/>
        </p:nvSpPr>
        <p:spPr>
          <a:xfrm>
            <a:off x="6966204" y="4660570"/>
            <a:ext cx="210312" cy="32291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7057644" y="4306497"/>
            <a:ext cx="27432" cy="78113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7007352" y="5087631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7007352" y="4306497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6870192" y="5971032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800">
                <a:solidFill>
                  <a:srgbClr val="111111"/>
                </a:solidFill>
              </a:rPr>
              <a:t>Temperature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8016240" y="5696712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100" b="1">
                <a:solidFill>
                  <a:srgbClr val="111111"/>
                </a:solidFill>
              </a:rPr>
              <a:t>SftO2</a:t>
            </a:r>
          </a:p>
        </p:txBody>
      </p:sp>
      <p:sp>
        <p:nvSpPr>
          <p:cNvPr id="57" name="Rect 57"/>
          <p:cNvSpPr/>
          <p:nvPr/>
        </p:nvSpPr>
        <p:spPr>
          <a:xfrm>
            <a:off x="8764524" y="3589021"/>
            <a:ext cx="210312" cy="13944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8855964" y="3460247"/>
            <a:ext cx="27432" cy="291273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8805672" y="3751521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8805672" y="3460247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8668512" y="5971032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800">
                <a:solidFill>
                  <a:srgbClr val="111111"/>
                </a:solidFill>
              </a:rPr>
              <a:t>EtCO2</a:t>
            </a:r>
          </a:p>
        </p:txBody>
      </p:sp>
      <p:sp>
        <p:nvSpPr>
          <p:cNvPr id="62" name="Rect 62"/>
          <p:cNvSpPr/>
          <p:nvPr/>
        </p:nvSpPr>
        <p:spPr>
          <a:xfrm>
            <a:off x="9663684" y="4973760"/>
            <a:ext cx="210312" cy="9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9755124" y="4856951"/>
            <a:ext cx="27432" cy="20763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9704832" y="5064586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9704832" y="4856951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Text 66"/>
          <p:cNvSpPr txBox="1"/>
          <p:nvPr/>
        </p:nvSpPr>
        <p:spPr>
          <a:xfrm>
            <a:off x="9567672" y="5971032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800">
                <a:solidFill>
                  <a:srgbClr val="111111"/>
                </a:solidFill>
              </a:rPr>
              <a:t>FiO2</a:t>
            </a:r>
          </a:p>
        </p:txBody>
      </p:sp>
      <p:sp>
        <p:nvSpPr>
          <p:cNvPr id="67" name="Rect 67"/>
          <p:cNvSpPr/>
          <p:nvPr/>
        </p:nvSpPr>
        <p:spPr>
          <a:xfrm>
            <a:off x="10562844" y="4716339"/>
            <a:ext cx="210312" cy="267141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10654284" y="4563567"/>
            <a:ext cx="27432" cy="285113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10603992" y="4848680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10603992" y="4563567"/>
            <a:ext cx="12801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ext 71"/>
          <p:cNvSpPr txBox="1"/>
          <p:nvPr/>
        </p:nvSpPr>
        <p:spPr>
          <a:xfrm>
            <a:off x="10466832" y="5971032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800">
                <a:solidFill>
                  <a:srgbClr val="111111"/>
                </a:solidFill>
              </a:rPr>
              <a:t>Temperature</a:t>
            </a:r>
          </a:p>
        </p:txBody>
      </p:sp>
      <p:sp>
        <p:nvSpPr>
          <p:cNvPr id="72" name="Rect 72"/>
          <p:cNvSpPr/>
          <p:nvPr/>
        </p:nvSpPr>
        <p:spPr>
          <a:xfrm>
            <a:off x="4389120" y="841248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73" name="Text 73"/>
          <p:cNvSpPr txBox="1"/>
          <p:nvPr/>
        </p:nvSpPr>
        <p:spPr>
          <a:xfrm>
            <a:off x="4599432" y="804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>
                <a:solidFill>
                  <a:srgbClr val="111111"/>
                </a:solidFill>
              </a:rPr>
              <a:t>EtCO2</a:t>
            </a:r>
          </a:p>
        </p:txBody>
      </p:sp>
      <p:sp>
        <p:nvSpPr>
          <p:cNvPr id="74" name="Rect 74"/>
          <p:cNvSpPr/>
          <p:nvPr/>
        </p:nvSpPr>
        <p:spPr>
          <a:xfrm>
            <a:off x="5715000" y="841248"/>
            <a:ext cx="164592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75" name="Text 75"/>
          <p:cNvSpPr txBox="1"/>
          <p:nvPr/>
        </p:nvSpPr>
        <p:spPr>
          <a:xfrm>
            <a:off x="5925312" y="804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>
                <a:solidFill>
                  <a:srgbClr val="111111"/>
                </a:solidFill>
              </a:rPr>
              <a:t>FiO2</a:t>
            </a:r>
          </a:p>
        </p:txBody>
      </p:sp>
      <p:sp>
        <p:nvSpPr>
          <p:cNvPr id="76" name="Rect 76"/>
          <p:cNvSpPr/>
          <p:nvPr/>
        </p:nvSpPr>
        <p:spPr>
          <a:xfrm>
            <a:off x="7040880" y="841248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77" name="Text 77"/>
          <p:cNvSpPr txBox="1"/>
          <p:nvPr/>
        </p:nvSpPr>
        <p:spPr>
          <a:xfrm>
            <a:off x="7251192" y="804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>
                <a:solidFill>
                  <a:srgbClr val="111111"/>
                </a:solidFill>
              </a:rPr>
              <a:t>Temperature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2200" b="1">
                <a:solidFill>
                  <a:srgbClr val="111111"/>
                </a:solidFill>
              </a:rPr>
              <a:t>Primary exposure summary table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6217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100">
                <a:solidFill>
                  <a:srgbClr val="444444"/>
                </a:solidFill>
              </a:rPr>
              <a:t>Median (IQR) across 20 segment effects</a:t>
            </a:r>
          </a:p>
        </p:txBody>
      </p:sp>
      <p:sp>
        <p:nvSpPr>
          <p:cNvPr id="4" name="Rect 4"/>
          <p:cNvSpPr/>
          <p:nvPr/>
        </p:nvSpPr>
        <p:spPr>
          <a:xfrm>
            <a:off x="365760" y="914400"/>
            <a:ext cx="18288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1000" b="1">
                <a:solidFill>
                  <a:srgbClr val="111111"/>
                </a:solidFill>
              </a:rPr>
              <a:t>Outcome</a:t>
            </a:r>
          </a:p>
        </p:txBody>
      </p:sp>
      <p:sp>
        <p:nvSpPr>
          <p:cNvPr id="5" name="Rect 5"/>
          <p:cNvSpPr/>
          <p:nvPr/>
        </p:nvSpPr>
        <p:spPr>
          <a:xfrm>
            <a:off x="2331720" y="914400"/>
            <a:ext cx="132588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1000" b="1">
                <a:solidFill>
                  <a:srgbClr val="111111"/>
                </a:solidFill>
              </a:rPr>
              <a:t>Exposure</a:t>
            </a:r>
          </a:p>
        </p:txBody>
      </p:sp>
      <p:sp>
        <p:nvSpPr>
          <p:cNvPr id="6" name="Rect 6"/>
          <p:cNvSpPr/>
          <p:nvPr/>
        </p:nvSpPr>
        <p:spPr>
          <a:xfrm>
            <a:off x="3794760" y="914400"/>
            <a:ext cx="178308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1000" b="1">
                <a:solidFill>
                  <a:srgbClr val="111111"/>
                </a:solidFill>
              </a:rPr>
              <a:t>Window</a:t>
            </a:r>
          </a:p>
        </p:txBody>
      </p:sp>
      <p:sp>
        <p:nvSpPr>
          <p:cNvPr id="7" name="Rect 7"/>
          <p:cNvSpPr/>
          <p:nvPr/>
        </p:nvSpPr>
        <p:spPr>
          <a:xfrm>
            <a:off x="5715000" y="914400"/>
            <a:ext cx="141732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1000" b="1">
                <a:solidFill>
                  <a:srgbClr val="111111"/>
                </a:solidFill>
              </a:rPr>
              <a:t>Increment</a:t>
            </a:r>
          </a:p>
        </p:txBody>
      </p:sp>
      <p:sp>
        <p:nvSpPr>
          <p:cNvPr id="8" name="Rect 8"/>
          <p:cNvSpPr/>
          <p:nvPr/>
        </p:nvSpPr>
        <p:spPr>
          <a:xfrm>
            <a:off x="7360920" y="914400"/>
            <a:ext cx="96012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1000" b="1">
                <a:solidFill>
                  <a:srgbClr val="111111"/>
                </a:solidFill>
              </a:rPr>
              <a:t>Median</a:t>
            </a:r>
          </a:p>
        </p:txBody>
      </p:sp>
      <p:sp>
        <p:nvSpPr>
          <p:cNvPr id="9" name="Rect 9"/>
          <p:cNvSpPr/>
          <p:nvPr/>
        </p:nvSpPr>
        <p:spPr>
          <a:xfrm>
            <a:off x="8458200" y="914400"/>
            <a:ext cx="19659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1000" b="1">
                <a:solidFill>
                  <a:srgbClr val="111111"/>
                </a:solidFill>
              </a:rPr>
              <a:t>IQR</a:t>
            </a:r>
          </a:p>
        </p:txBody>
      </p:sp>
      <p:sp>
        <p:nvSpPr>
          <p:cNvPr id="10" name="Rect 10"/>
          <p:cNvSpPr/>
          <p:nvPr/>
        </p:nvSpPr>
        <p:spPr>
          <a:xfrm>
            <a:off x="365760" y="126187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Left SctO2</a:t>
            </a:r>
          </a:p>
        </p:txBody>
      </p:sp>
      <p:sp>
        <p:nvSpPr>
          <p:cNvPr id="11" name="Rect 11"/>
          <p:cNvSpPr/>
          <p:nvPr/>
        </p:nvSpPr>
        <p:spPr>
          <a:xfrm>
            <a:off x="2331720" y="1261872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EtCO2</a:t>
            </a:r>
          </a:p>
        </p:txBody>
      </p:sp>
      <p:sp>
        <p:nvSpPr>
          <p:cNvPr id="12" name="Rect 12"/>
          <p:cNvSpPr/>
          <p:nvPr/>
        </p:nvSpPr>
        <p:spPr>
          <a:xfrm>
            <a:off x="3794760" y="1261872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24.00-37.00</a:t>
            </a:r>
          </a:p>
        </p:txBody>
      </p:sp>
      <p:sp>
        <p:nvSpPr>
          <p:cNvPr id="13" name="Rect 13"/>
          <p:cNvSpPr/>
          <p:nvPr/>
        </p:nvSpPr>
        <p:spPr>
          <a:xfrm>
            <a:off x="5715000" y="1261872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14" name="Rect 14"/>
          <p:cNvSpPr/>
          <p:nvPr/>
        </p:nvSpPr>
        <p:spPr>
          <a:xfrm>
            <a:off x="7360920" y="1261872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2.51</a:t>
            </a:r>
          </a:p>
        </p:txBody>
      </p:sp>
      <p:sp>
        <p:nvSpPr>
          <p:cNvPr id="15" name="Rect 15"/>
          <p:cNvSpPr/>
          <p:nvPr/>
        </p:nvSpPr>
        <p:spPr>
          <a:xfrm>
            <a:off x="8458200" y="1261872"/>
            <a:ext cx="1965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2.17 to 2.99</a:t>
            </a:r>
          </a:p>
        </p:txBody>
      </p:sp>
      <p:sp>
        <p:nvSpPr>
          <p:cNvPr id="16" name="Rect 16"/>
          <p:cNvSpPr/>
          <p:nvPr/>
        </p:nvSpPr>
        <p:spPr>
          <a:xfrm>
            <a:off x="365760" y="1609344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Left SctO2</a:t>
            </a:r>
          </a:p>
        </p:txBody>
      </p:sp>
      <p:sp>
        <p:nvSpPr>
          <p:cNvPr id="17" name="Rect 17"/>
          <p:cNvSpPr/>
          <p:nvPr/>
        </p:nvSpPr>
        <p:spPr>
          <a:xfrm>
            <a:off x="2331720" y="1609344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FiO2</a:t>
            </a:r>
          </a:p>
        </p:txBody>
      </p:sp>
      <p:sp>
        <p:nvSpPr>
          <p:cNvPr id="18" name="Rect 18"/>
          <p:cNvSpPr/>
          <p:nvPr/>
        </p:nvSpPr>
        <p:spPr>
          <a:xfrm>
            <a:off x="3794760" y="1609344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46.00-95.00</a:t>
            </a:r>
          </a:p>
        </p:txBody>
      </p:sp>
      <p:sp>
        <p:nvSpPr>
          <p:cNvPr id="19" name="Rect 19"/>
          <p:cNvSpPr/>
          <p:nvPr/>
        </p:nvSpPr>
        <p:spPr>
          <a:xfrm>
            <a:off x="5715000" y="1609344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20" name="Rect 20"/>
          <p:cNvSpPr/>
          <p:nvPr/>
        </p:nvSpPr>
        <p:spPr>
          <a:xfrm>
            <a:off x="7360920" y="1609344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0.18</a:t>
            </a:r>
          </a:p>
        </p:txBody>
      </p:sp>
      <p:sp>
        <p:nvSpPr>
          <p:cNvPr id="21" name="Rect 21"/>
          <p:cNvSpPr/>
          <p:nvPr/>
        </p:nvSpPr>
        <p:spPr>
          <a:xfrm>
            <a:off x="8458200" y="1609344"/>
            <a:ext cx="1965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-0.12 to 0.36</a:t>
            </a:r>
          </a:p>
        </p:txBody>
      </p:sp>
      <p:sp>
        <p:nvSpPr>
          <p:cNvPr id="22" name="Rect 22"/>
          <p:cNvSpPr/>
          <p:nvPr/>
        </p:nvSpPr>
        <p:spPr>
          <a:xfrm>
            <a:off x="365760" y="1956816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Left SctO2</a:t>
            </a:r>
          </a:p>
        </p:txBody>
      </p:sp>
      <p:sp>
        <p:nvSpPr>
          <p:cNvPr id="23" name="Rect 23"/>
          <p:cNvSpPr/>
          <p:nvPr/>
        </p:nvSpPr>
        <p:spPr>
          <a:xfrm>
            <a:off x="2331720" y="1956816"/>
            <a:ext cx="13258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Temperature</a:t>
            </a:r>
          </a:p>
        </p:txBody>
      </p:sp>
      <p:sp>
        <p:nvSpPr>
          <p:cNvPr id="24" name="Rect 24"/>
          <p:cNvSpPr/>
          <p:nvPr/>
        </p:nvSpPr>
        <p:spPr>
          <a:xfrm>
            <a:off x="3794760" y="1956816"/>
            <a:ext cx="1783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34.38-36.52</a:t>
            </a:r>
          </a:p>
        </p:txBody>
      </p:sp>
      <p:sp>
        <p:nvSpPr>
          <p:cNvPr id="25" name="Rect 25"/>
          <p:cNvSpPr/>
          <p:nvPr/>
        </p:nvSpPr>
        <p:spPr>
          <a:xfrm>
            <a:off x="5715000" y="1956816"/>
            <a:ext cx="1417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+0.50</a:t>
            </a:r>
          </a:p>
        </p:txBody>
      </p:sp>
      <p:sp>
        <p:nvSpPr>
          <p:cNvPr id="26" name="Rect 26"/>
          <p:cNvSpPr/>
          <p:nvPr/>
        </p:nvSpPr>
        <p:spPr>
          <a:xfrm>
            <a:off x="7360920" y="1956816"/>
            <a:ext cx="9601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0.17</a:t>
            </a:r>
          </a:p>
        </p:txBody>
      </p:sp>
      <p:sp>
        <p:nvSpPr>
          <p:cNvPr id="27" name="Rect 27"/>
          <p:cNvSpPr/>
          <p:nvPr/>
        </p:nvSpPr>
        <p:spPr>
          <a:xfrm>
            <a:off x="8458200" y="1956816"/>
            <a:ext cx="1965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0.01 to 0.30</a:t>
            </a:r>
          </a:p>
        </p:txBody>
      </p:sp>
      <p:sp>
        <p:nvSpPr>
          <p:cNvPr id="28" name="Rect 28"/>
          <p:cNvSpPr/>
          <p:nvPr/>
        </p:nvSpPr>
        <p:spPr>
          <a:xfrm>
            <a:off x="365760" y="2304288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Right SctO2</a:t>
            </a:r>
          </a:p>
        </p:txBody>
      </p:sp>
      <p:sp>
        <p:nvSpPr>
          <p:cNvPr id="29" name="Rect 29"/>
          <p:cNvSpPr/>
          <p:nvPr/>
        </p:nvSpPr>
        <p:spPr>
          <a:xfrm>
            <a:off x="2331720" y="2304288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EtCO2</a:t>
            </a:r>
          </a:p>
        </p:txBody>
      </p:sp>
      <p:sp>
        <p:nvSpPr>
          <p:cNvPr id="30" name="Rect 30"/>
          <p:cNvSpPr/>
          <p:nvPr/>
        </p:nvSpPr>
        <p:spPr>
          <a:xfrm>
            <a:off x="3794760" y="2304288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24.00-37.00</a:t>
            </a:r>
          </a:p>
        </p:txBody>
      </p:sp>
      <p:sp>
        <p:nvSpPr>
          <p:cNvPr id="31" name="Rect 31"/>
          <p:cNvSpPr/>
          <p:nvPr/>
        </p:nvSpPr>
        <p:spPr>
          <a:xfrm>
            <a:off x="5715000" y="2304288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32" name="Rect 32"/>
          <p:cNvSpPr/>
          <p:nvPr/>
        </p:nvSpPr>
        <p:spPr>
          <a:xfrm>
            <a:off x="7360920" y="2304288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2.37</a:t>
            </a:r>
          </a:p>
        </p:txBody>
      </p:sp>
      <p:sp>
        <p:nvSpPr>
          <p:cNvPr id="33" name="Rect 33"/>
          <p:cNvSpPr/>
          <p:nvPr/>
        </p:nvSpPr>
        <p:spPr>
          <a:xfrm>
            <a:off x="8458200" y="2304288"/>
            <a:ext cx="1965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2.03 to 2.84</a:t>
            </a:r>
          </a:p>
        </p:txBody>
      </p:sp>
      <p:sp>
        <p:nvSpPr>
          <p:cNvPr id="34" name="Rect 34"/>
          <p:cNvSpPr/>
          <p:nvPr/>
        </p:nvSpPr>
        <p:spPr>
          <a:xfrm>
            <a:off x="365760" y="2651760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Right SctO2</a:t>
            </a:r>
          </a:p>
        </p:txBody>
      </p:sp>
      <p:sp>
        <p:nvSpPr>
          <p:cNvPr id="35" name="Rect 35"/>
          <p:cNvSpPr/>
          <p:nvPr/>
        </p:nvSpPr>
        <p:spPr>
          <a:xfrm>
            <a:off x="2331720" y="2651760"/>
            <a:ext cx="13258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FiO2</a:t>
            </a:r>
          </a:p>
        </p:txBody>
      </p:sp>
      <p:sp>
        <p:nvSpPr>
          <p:cNvPr id="36" name="Rect 36"/>
          <p:cNvSpPr/>
          <p:nvPr/>
        </p:nvSpPr>
        <p:spPr>
          <a:xfrm>
            <a:off x="3794760" y="2651760"/>
            <a:ext cx="1783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46.00-95.00</a:t>
            </a:r>
          </a:p>
        </p:txBody>
      </p:sp>
      <p:sp>
        <p:nvSpPr>
          <p:cNvPr id="37" name="Rect 37"/>
          <p:cNvSpPr/>
          <p:nvPr/>
        </p:nvSpPr>
        <p:spPr>
          <a:xfrm>
            <a:off x="5715000" y="2651760"/>
            <a:ext cx="1417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38" name="Rect 38"/>
          <p:cNvSpPr/>
          <p:nvPr/>
        </p:nvSpPr>
        <p:spPr>
          <a:xfrm>
            <a:off x="7360920" y="2651760"/>
            <a:ext cx="9601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0.15</a:t>
            </a:r>
          </a:p>
        </p:txBody>
      </p:sp>
      <p:sp>
        <p:nvSpPr>
          <p:cNvPr id="39" name="Rect 39"/>
          <p:cNvSpPr/>
          <p:nvPr/>
        </p:nvSpPr>
        <p:spPr>
          <a:xfrm>
            <a:off x="8458200" y="2651760"/>
            <a:ext cx="1965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-0.09 to 0.39</a:t>
            </a:r>
          </a:p>
        </p:txBody>
      </p:sp>
      <p:sp>
        <p:nvSpPr>
          <p:cNvPr id="40" name="Rect 40"/>
          <p:cNvSpPr/>
          <p:nvPr/>
        </p:nvSpPr>
        <p:spPr>
          <a:xfrm>
            <a:off x="365760" y="2999232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Right SctO2</a:t>
            </a:r>
          </a:p>
        </p:txBody>
      </p:sp>
      <p:sp>
        <p:nvSpPr>
          <p:cNvPr id="41" name="Rect 41"/>
          <p:cNvSpPr/>
          <p:nvPr/>
        </p:nvSpPr>
        <p:spPr>
          <a:xfrm>
            <a:off x="2331720" y="2999232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Temperature</a:t>
            </a:r>
          </a:p>
        </p:txBody>
      </p:sp>
      <p:sp>
        <p:nvSpPr>
          <p:cNvPr id="42" name="Rect 42"/>
          <p:cNvSpPr/>
          <p:nvPr/>
        </p:nvSpPr>
        <p:spPr>
          <a:xfrm>
            <a:off x="3794760" y="2999232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34.39-36.51</a:t>
            </a:r>
          </a:p>
        </p:txBody>
      </p:sp>
      <p:sp>
        <p:nvSpPr>
          <p:cNvPr id="43" name="Rect 43"/>
          <p:cNvSpPr/>
          <p:nvPr/>
        </p:nvSpPr>
        <p:spPr>
          <a:xfrm>
            <a:off x="5715000" y="2999232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+0.50</a:t>
            </a:r>
          </a:p>
        </p:txBody>
      </p:sp>
      <p:sp>
        <p:nvSpPr>
          <p:cNvPr id="44" name="Rect 44"/>
          <p:cNvSpPr/>
          <p:nvPr/>
        </p:nvSpPr>
        <p:spPr>
          <a:xfrm>
            <a:off x="7360920" y="2999232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0.29</a:t>
            </a:r>
          </a:p>
        </p:txBody>
      </p:sp>
      <p:sp>
        <p:nvSpPr>
          <p:cNvPr id="45" name="Rect 45"/>
          <p:cNvSpPr/>
          <p:nvPr/>
        </p:nvSpPr>
        <p:spPr>
          <a:xfrm>
            <a:off x="8458200" y="2999232"/>
            <a:ext cx="1965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-0.09 to 0.62</a:t>
            </a:r>
          </a:p>
        </p:txBody>
      </p:sp>
      <p:sp>
        <p:nvSpPr>
          <p:cNvPr id="46" name="Rect 46"/>
          <p:cNvSpPr/>
          <p:nvPr/>
        </p:nvSpPr>
        <p:spPr>
          <a:xfrm>
            <a:off x="365760" y="3346704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SftO2</a:t>
            </a:r>
          </a:p>
        </p:txBody>
      </p:sp>
      <p:sp>
        <p:nvSpPr>
          <p:cNvPr id="47" name="Rect 47"/>
          <p:cNvSpPr/>
          <p:nvPr/>
        </p:nvSpPr>
        <p:spPr>
          <a:xfrm>
            <a:off x="2331720" y="3346704"/>
            <a:ext cx="13258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EtCO2</a:t>
            </a:r>
          </a:p>
        </p:txBody>
      </p:sp>
      <p:sp>
        <p:nvSpPr>
          <p:cNvPr id="48" name="Rect 48"/>
          <p:cNvSpPr/>
          <p:nvPr/>
        </p:nvSpPr>
        <p:spPr>
          <a:xfrm>
            <a:off x="3794760" y="3346704"/>
            <a:ext cx="1783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24.00-37.00</a:t>
            </a:r>
          </a:p>
        </p:txBody>
      </p:sp>
      <p:sp>
        <p:nvSpPr>
          <p:cNvPr id="49" name="Rect 49"/>
          <p:cNvSpPr/>
          <p:nvPr/>
        </p:nvSpPr>
        <p:spPr>
          <a:xfrm>
            <a:off x="5715000" y="3346704"/>
            <a:ext cx="1417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50" name="Rect 50"/>
          <p:cNvSpPr/>
          <p:nvPr/>
        </p:nvSpPr>
        <p:spPr>
          <a:xfrm>
            <a:off x="7360920" y="3346704"/>
            <a:ext cx="9601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1.27</a:t>
            </a:r>
          </a:p>
        </p:txBody>
      </p:sp>
      <p:sp>
        <p:nvSpPr>
          <p:cNvPr id="51" name="Rect 51"/>
          <p:cNvSpPr/>
          <p:nvPr/>
        </p:nvSpPr>
        <p:spPr>
          <a:xfrm>
            <a:off x="8458200" y="3346704"/>
            <a:ext cx="1965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1.12 to 1.39</a:t>
            </a:r>
          </a:p>
        </p:txBody>
      </p:sp>
      <p:sp>
        <p:nvSpPr>
          <p:cNvPr id="52" name="Rect 52"/>
          <p:cNvSpPr/>
          <p:nvPr/>
        </p:nvSpPr>
        <p:spPr>
          <a:xfrm>
            <a:off x="365760" y="3694176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SftO2</a:t>
            </a:r>
          </a:p>
        </p:txBody>
      </p:sp>
      <p:sp>
        <p:nvSpPr>
          <p:cNvPr id="53" name="Rect 53"/>
          <p:cNvSpPr/>
          <p:nvPr/>
        </p:nvSpPr>
        <p:spPr>
          <a:xfrm>
            <a:off x="2331720" y="3694176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FiO2</a:t>
            </a:r>
          </a:p>
        </p:txBody>
      </p:sp>
      <p:sp>
        <p:nvSpPr>
          <p:cNvPr id="54" name="Rect 54"/>
          <p:cNvSpPr/>
          <p:nvPr/>
        </p:nvSpPr>
        <p:spPr>
          <a:xfrm>
            <a:off x="3794760" y="3694176"/>
            <a:ext cx="1783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46.00-95.00</a:t>
            </a:r>
          </a:p>
        </p:txBody>
      </p:sp>
      <p:sp>
        <p:nvSpPr>
          <p:cNvPr id="55" name="Rect 55"/>
          <p:cNvSpPr/>
          <p:nvPr/>
        </p:nvSpPr>
        <p:spPr>
          <a:xfrm>
            <a:off x="5715000" y="3694176"/>
            <a:ext cx="14173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56" name="Rect 56"/>
          <p:cNvSpPr/>
          <p:nvPr/>
        </p:nvSpPr>
        <p:spPr>
          <a:xfrm>
            <a:off x="7360920" y="3694176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0.01</a:t>
            </a:r>
          </a:p>
        </p:txBody>
      </p:sp>
      <p:sp>
        <p:nvSpPr>
          <p:cNvPr id="57" name="Rect 57"/>
          <p:cNvSpPr/>
          <p:nvPr/>
        </p:nvSpPr>
        <p:spPr>
          <a:xfrm>
            <a:off x="8458200" y="3694176"/>
            <a:ext cx="1965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-0.07 to 0.12</a:t>
            </a:r>
          </a:p>
        </p:txBody>
      </p:sp>
      <p:sp>
        <p:nvSpPr>
          <p:cNvPr id="58" name="Rect 58"/>
          <p:cNvSpPr/>
          <p:nvPr/>
        </p:nvSpPr>
        <p:spPr>
          <a:xfrm>
            <a:off x="365760" y="4041648"/>
            <a:ext cx="18288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SftO2</a:t>
            </a:r>
          </a:p>
        </p:txBody>
      </p:sp>
      <p:sp>
        <p:nvSpPr>
          <p:cNvPr id="59" name="Rect 59"/>
          <p:cNvSpPr/>
          <p:nvPr/>
        </p:nvSpPr>
        <p:spPr>
          <a:xfrm>
            <a:off x="2331720" y="4041648"/>
            <a:ext cx="13258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Temperature</a:t>
            </a:r>
          </a:p>
        </p:txBody>
      </p:sp>
      <p:sp>
        <p:nvSpPr>
          <p:cNvPr id="60" name="Rect 60"/>
          <p:cNvSpPr/>
          <p:nvPr/>
        </p:nvSpPr>
        <p:spPr>
          <a:xfrm>
            <a:off x="3794760" y="4041648"/>
            <a:ext cx="17830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34.39-36.52</a:t>
            </a:r>
          </a:p>
        </p:txBody>
      </p:sp>
      <p:sp>
        <p:nvSpPr>
          <p:cNvPr id="61" name="Rect 61"/>
          <p:cNvSpPr/>
          <p:nvPr/>
        </p:nvSpPr>
        <p:spPr>
          <a:xfrm>
            <a:off x="5715000" y="4041648"/>
            <a:ext cx="14173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+0.50</a:t>
            </a:r>
          </a:p>
        </p:txBody>
      </p:sp>
      <p:sp>
        <p:nvSpPr>
          <p:cNvPr id="62" name="Rect 62"/>
          <p:cNvSpPr/>
          <p:nvPr/>
        </p:nvSpPr>
        <p:spPr>
          <a:xfrm>
            <a:off x="7360920" y="4041648"/>
            <a:ext cx="9601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0.24</a:t>
            </a:r>
          </a:p>
        </p:txBody>
      </p:sp>
      <p:sp>
        <p:nvSpPr>
          <p:cNvPr id="63" name="Rect 63"/>
          <p:cNvSpPr/>
          <p:nvPr/>
        </p:nvSpPr>
        <p:spPr>
          <a:xfrm>
            <a:off x="8458200" y="4041648"/>
            <a:ext cx="1965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111111"/>
                </a:solidFill>
              </a:rPr>
              <a:t>0.12 to 0.38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2200" b="1">
                <a:solidFill>
                  <a:srgbClr val="111111"/>
                </a:solidFill>
              </a:rPr>
              <a:t>20-segment clinical-step effects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6217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100">
                <a:solidFill>
                  <a:srgbClr val="444444"/>
                </a:solidFill>
              </a:rPr>
              <a:t>Each cell is the segment-specific clinical-step effect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90525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740">
                <a:solidFill>
                  <a:srgbClr val="111111"/>
                </a:solidFill>
              </a:rPr>
              <a:t>Left SctO2 EtCO2</a:t>
            </a:r>
          </a:p>
        </p:txBody>
      </p:sp>
      <p:sp>
        <p:nvSpPr>
          <p:cNvPr id="5" name="Rect 5"/>
          <p:cNvSpPr/>
          <p:nvPr/>
        </p:nvSpPr>
        <p:spPr>
          <a:xfrm>
            <a:off x="1828800" y="914400"/>
            <a:ext cx="228600" cy="201168"/>
          </a:xfrm>
          <a:prstGeom prst="rect">
            <a:avLst/>
          </a:prstGeom>
          <a:solidFill>
            <a:srgbClr val="FF9999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2057400" y="914400"/>
            <a:ext cx="228600" cy="201168"/>
          </a:xfrm>
          <a:prstGeom prst="rect">
            <a:avLst/>
          </a:prstGeom>
          <a:solidFill>
            <a:srgbClr val="FF9898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2286000" y="914400"/>
            <a:ext cx="228600" cy="201168"/>
          </a:xfrm>
          <a:prstGeom prst="rect">
            <a:avLst/>
          </a:prstGeom>
          <a:solidFill>
            <a:srgbClr val="FF9797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2514600" y="914400"/>
            <a:ext cx="228600" cy="201168"/>
          </a:xfrm>
          <a:prstGeom prst="rect">
            <a:avLst/>
          </a:prstGeom>
          <a:solidFill>
            <a:srgbClr val="FF9595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2743200" y="914400"/>
            <a:ext cx="228600" cy="201168"/>
          </a:xfrm>
          <a:prstGeom prst="rect">
            <a:avLst/>
          </a:prstGeom>
          <a:solidFill>
            <a:srgbClr val="FF9494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2971800" y="914400"/>
            <a:ext cx="228600" cy="201168"/>
          </a:xfrm>
          <a:prstGeom prst="rect">
            <a:avLst/>
          </a:prstGeom>
          <a:solidFill>
            <a:srgbClr val="FF9191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3200400" y="914400"/>
            <a:ext cx="228600" cy="201168"/>
          </a:xfrm>
          <a:prstGeom prst="rect">
            <a:avLst/>
          </a:prstGeom>
          <a:solidFill>
            <a:srgbClr val="FF8E8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3429000" y="914400"/>
            <a:ext cx="228600" cy="201168"/>
          </a:xfrm>
          <a:prstGeom prst="rect">
            <a:avLst/>
          </a:prstGeom>
          <a:solidFill>
            <a:srgbClr val="FF8B8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3657600" y="914400"/>
            <a:ext cx="228600" cy="201168"/>
          </a:xfrm>
          <a:prstGeom prst="rect">
            <a:avLst/>
          </a:prstGeom>
          <a:solidFill>
            <a:srgbClr val="FF8787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3886200" y="914400"/>
            <a:ext cx="228600" cy="201168"/>
          </a:xfrm>
          <a:prstGeom prst="rect">
            <a:avLst/>
          </a:prstGeom>
          <a:solidFill>
            <a:srgbClr val="FF8383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4114800" y="914400"/>
            <a:ext cx="228600" cy="201168"/>
          </a:xfrm>
          <a:prstGeom prst="rect">
            <a:avLst/>
          </a:prstGeom>
          <a:solidFill>
            <a:srgbClr val="FF7E7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4343400" y="914400"/>
            <a:ext cx="228600" cy="201168"/>
          </a:xfrm>
          <a:prstGeom prst="rect">
            <a:avLst/>
          </a:prstGeom>
          <a:solidFill>
            <a:srgbClr val="FF7A7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4572000" y="914400"/>
            <a:ext cx="228600" cy="201168"/>
          </a:xfrm>
          <a:prstGeom prst="rect">
            <a:avLst/>
          </a:prstGeom>
          <a:solidFill>
            <a:srgbClr val="FF7474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4800600" y="914400"/>
            <a:ext cx="228600" cy="201168"/>
          </a:xfrm>
          <a:prstGeom prst="rect">
            <a:avLst/>
          </a:prstGeom>
          <a:solidFill>
            <a:srgbClr val="FF6F6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5029200" y="914400"/>
            <a:ext cx="228600" cy="201168"/>
          </a:xfrm>
          <a:prstGeom prst="rect">
            <a:avLst/>
          </a:prstGeom>
          <a:solidFill>
            <a:srgbClr val="FF6A6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5257800" y="914400"/>
            <a:ext cx="228600" cy="201168"/>
          </a:xfrm>
          <a:prstGeom prst="rect">
            <a:avLst/>
          </a:prstGeom>
          <a:solidFill>
            <a:srgbClr val="FF666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5486400" y="914400"/>
            <a:ext cx="228600" cy="201168"/>
          </a:xfrm>
          <a:prstGeom prst="rect">
            <a:avLst/>
          </a:prstGeom>
          <a:solidFill>
            <a:srgbClr val="FF6363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5715000" y="914400"/>
            <a:ext cx="228600" cy="201168"/>
          </a:xfrm>
          <a:prstGeom prst="rect">
            <a:avLst/>
          </a:prstGeom>
          <a:solidFill>
            <a:srgbClr val="FF6363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5943600" y="914400"/>
            <a:ext cx="228600" cy="201168"/>
          </a:xfrm>
          <a:prstGeom prst="rect">
            <a:avLst/>
          </a:prstGeom>
          <a:solidFill>
            <a:srgbClr val="FF6363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6172200" y="914400"/>
            <a:ext cx="228600" cy="201168"/>
          </a:xfrm>
          <a:prstGeom prst="rect">
            <a:avLst/>
          </a:prstGeom>
          <a:solidFill>
            <a:srgbClr val="FF666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320040" y="110642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740">
                <a:solidFill>
                  <a:srgbClr val="111111"/>
                </a:solidFill>
              </a:rPr>
              <a:t>Left SctO2 FiO2</a:t>
            </a:r>
          </a:p>
        </p:txBody>
      </p:sp>
      <p:sp>
        <p:nvSpPr>
          <p:cNvPr id="26" name="Rect 26"/>
          <p:cNvSpPr/>
          <p:nvPr/>
        </p:nvSpPr>
        <p:spPr>
          <a:xfrm>
            <a:off x="1828800" y="1115568"/>
            <a:ext cx="228600" cy="201168"/>
          </a:xfrm>
          <a:prstGeom prst="rect">
            <a:avLst/>
          </a:prstGeom>
          <a:solidFill>
            <a:srgbClr val="EEF3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2057400" y="1115568"/>
            <a:ext cx="228600" cy="201168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2286000" y="1115568"/>
            <a:ext cx="228600" cy="201168"/>
          </a:xfrm>
          <a:prstGeom prst="rect">
            <a:avLst/>
          </a:prstGeom>
          <a:solidFill>
            <a:srgbClr val="FFFCFC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2514600" y="1115568"/>
            <a:ext cx="228600" cy="201168"/>
          </a:xfrm>
          <a:prstGeom prst="rect">
            <a:avLst/>
          </a:prstGeom>
          <a:solidFill>
            <a:srgbClr val="FFF6F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2743200" y="1115568"/>
            <a:ext cx="228600" cy="201168"/>
          </a:xfrm>
          <a:prstGeom prst="rect">
            <a:avLst/>
          </a:prstGeom>
          <a:solidFill>
            <a:srgbClr val="FFF0F0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2971800" y="1115568"/>
            <a:ext cx="228600" cy="201168"/>
          </a:xfrm>
          <a:prstGeom prst="rect">
            <a:avLst/>
          </a:prstGeom>
          <a:solidFill>
            <a:srgbClr val="FFEDED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3200400" y="1115568"/>
            <a:ext cx="228600" cy="201168"/>
          </a:xfrm>
          <a:prstGeom prst="rect">
            <a:avLst/>
          </a:prstGeom>
          <a:solidFill>
            <a:srgbClr val="FFECEC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3429000" y="1115568"/>
            <a:ext cx="228600" cy="201168"/>
          </a:xfrm>
          <a:prstGeom prst="rect">
            <a:avLst/>
          </a:prstGeom>
          <a:solidFill>
            <a:srgbClr val="FFEEE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3657600" y="1115568"/>
            <a:ext cx="228600" cy="201168"/>
          </a:xfrm>
          <a:prstGeom prst="rect">
            <a:avLst/>
          </a:prstGeom>
          <a:solidFill>
            <a:srgbClr val="FFF6F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3886200" y="1115568"/>
            <a:ext cx="228600" cy="201168"/>
          </a:xfrm>
          <a:prstGeom prst="rect">
            <a:avLst/>
          </a:prstGeom>
          <a:solidFill>
            <a:srgbClr val="FBFC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4114800" y="1115568"/>
            <a:ext cx="228600" cy="201168"/>
          </a:xfrm>
          <a:prstGeom prst="rect">
            <a:avLst/>
          </a:prstGeom>
          <a:solidFill>
            <a:srgbClr val="EBF0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4343400" y="1115568"/>
            <a:ext cx="228600" cy="201168"/>
          </a:xfrm>
          <a:prstGeom prst="rect">
            <a:avLst/>
          </a:prstGeom>
          <a:solidFill>
            <a:srgbClr val="E8EE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4572000" y="1115568"/>
            <a:ext cx="228600" cy="201168"/>
          </a:xfrm>
          <a:prstGeom prst="rect">
            <a:avLst/>
          </a:prstGeom>
          <a:solidFill>
            <a:srgbClr val="F4F7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4800600" y="1115568"/>
            <a:ext cx="228600" cy="201168"/>
          </a:xfrm>
          <a:prstGeom prst="rect">
            <a:avLst/>
          </a:prstGeom>
          <a:solidFill>
            <a:srgbClr val="FFF3F3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5029200" y="1115568"/>
            <a:ext cx="228600" cy="201168"/>
          </a:xfrm>
          <a:prstGeom prst="rect">
            <a:avLst/>
          </a:prstGeom>
          <a:solidFill>
            <a:srgbClr val="FFDBD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5257800" y="1115568"/>
            <a:ext cx="228600" cy="201168"/>
          </a:xfrm>
          <a:prstGeom prst="rect">
            <a:avLst/>
          </a:prstGeom>
          <a:solidFill>
            <a:srgbClr val="FFCDCD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5486400" y="1115568"/>
            <a:ext cx="228600" cy="201168"/>
          </a:xfrm>
          <a:prstGeom prst="rect">
            <a:avLst/>
          </a:prstGeom>
          <a:solidFill>
            <a:srgbClr val="FFCEC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5715000" y="1115568"/>
            <a:ext cx="228600" cy="201168"/>
          </a:xfrm>
          <a:prstGeom prst="rect">
            <a:avLst/>
          </a:prstGeom>
          <a:solidFill>
            <a:srgbClr val="FFDDDD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5943600" y="1115568"/>
            <a:ext cx="228600" cy="201168"/>
          </a:xfrm>
          <a:prstGeom prst="rect">
            <a:avLst/>
          </a:prstGeom>
          <a:solidFill>
            <a:srgbClr val="FFF6F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6172200" y="1115568"/>
            <a:ext cx="228600" cy="201168"/>
          </a:xfrm>
          <a:prstGeom prst="rect">
            <a:avLst/>
          </a:prstGeom>
          <a:solidFill>
            <a:srgbClr val="F6F8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6" name="Text 46"/>
          <p:cNvSpPr txBox="1"/>
          <p:nvPr/>
        </p:nvSpPr>
        <p:spPr>
          <a:xfrm>
            <a:off x="320040" y="130759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740">
                <a:solidFill>
                  <a:srgbClr val="111111"/>
                </a:solidFill>
              </a:rPr>
              <a:t>Left SctO2 Temperature</a:t>
            </a:r>
          </a:p>
        </p:txBody>
      </p:sp>
      <p:sp>
        <p:nvSpPr>
          <p:cNvPr id="47" name="Rect 47"/>
          <p:cNvSpPr/>
          <p:nvPr/>
        </p:nvSpPr>
        <p:spPr>
          <a:xfrm>
            <a:off x="1828800" y="1316736"/>
            <a:ext cx="228600" cy="201168"/>
          </a:xfrm>
          <a:prstGeom prst="rect">
            <a:avLst/>
          </a:prstGeom>
          <a:solidFill>
            <a:srgbClr val="FFEAE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2057400" y="1316736"/>
            <a:ext cx="228600" cy="201168"/>
          </a:xfrm>
          <a:prstGeom prst="rect">
            <a:avLst/>
          </a:prstGeom>
          <a:solidFill>
            <a:srgbClr val="FFEAE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2286000" y="1316736"/>
            <a:ext cx="228600" cy="201168"/>
          </a:xfrm>
          <a:prstGeom prst="rect">
            <a:avLst/>
          </a:prstGeom>
          <a:solidFill>
            <a:srgbClr val="FFEBE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2514600" y="1316736"/>
            <a:ext cx="228600" cy="201168"/>
          </a:xfrm>
          <a:prstGeom prst="rect">
            <a:avLst/>
          </a:prstGeom>
          <a:solidFill>
            <a:srgbClr val="FFECEC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2743200" y="1316736"/>
            <a:ext cx="228600" cy="201168"/>
          </a:xfrm>
          <a:prstGeom prst="rect">
            <a:avLst/>
          </a:prstGeom>
          <a:solidFill>
            <a:srgbClr val="FFEEE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2971800" y="1316736"/>
            <a:ext cx="228600" cy="201168"/>
          </a:xfrm>
          <a:prstGeom prst="rect">
            <a:avLst/>
          </a:prstGeom>
          <a:solidFill>
            <a:srgbClr val="FFF0F0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3200400" y="1316736"/>
            <a:ext cx="228600" cy="201168"/>
          </a:xfrm>
          <a:prstGeom prst="rect">
            <a:avLst/>
          </a:prstGeom>
          <a:solidFill>
            <a:srgbClr val="FFF3F3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3429000" y="1316736"/>
            <a:ext cx="228600" cy="201168"/>
          </a:xfrm>
          <a:prstGeom prst="rect">
            <a:avLst/>
          </a:prstGeom>
          <a:solidFill>
            <a:srgbClr val="FFF6F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3657600" y="1316736"/>
            <a:ext cx="228600" cy="201168"/>
          </a:xfrm>
          <a:prstGeom prst="rect">
            <a:avLst/>
          </a:prstGeom>
          <a:solidFill>
            <a:srgbClr val="FFFAF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3886200" y="1316736"/>
            <a:ext cx="228600" cy="201168"/>
          </a:xfrm>
          <a:prstGeom prst="rect">
            <a:avLst/>
          </a:prstGeom>
          <a:solidFill>
            <a:srgbClr val="FFFDFD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4114800" y="1316736"/>
            <a:ext cx="228600" cy="201168"/>
          </a:xfrm>
          <a:prstGeom prst="rect">
            <a:avLst/>
          </a:prstGeom>
          <a:solidFill>
            <a:srgbClr val="FCFD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4343400" y="1316736"/>
            <a:ext cx="228600" cy="201168"/>
          </a:xfrm>
          <a:prstGeom prst="rect">
            <a:avLst/>
          </a:prstGeom>
          <a:solidFill>
            <a:srgbClr val="F9FA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4572000" y="1316736"/>
            <a:ext cx="228600" cy="201168"/>
          </a:xfrm>
          <a:prstGeom prst="rect">
            <a:avLst/>
          </a:prstGeom>
          <a:solidFill>
            <a:srgbClr val="F9FA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4800600" y="1316736"/>
            <a:ext cx="228600" cy="201168"/>
          </a:xfrm>
          <a:prstGeom prst="rect">
            <a:avLst/>
          </a:prstGeom>
          <a:solidFill>
            <a:srgbClr val="FCFD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5029200" y="1316736"/>
            <a:ext cx="228600" cy="201168"/>
          </a:xfrm>
          <a:prstGeom prst="rect">
            <a:avLst/>
          </a:prstGeom>
          <a:solidFill>
            <a:srgbClr val="FFFCFC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5257800" y="1316736"/>
            <a:ext cx="228600" cy="201168"/>
          </a:xfrm>
          <a:prstGeom prst="rect">
            <a:avLst/>
          </a:prstGeom>
          <a:solidFill>
            <a:srgbClr val="FFF6F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5486400" y="1316736"/>
            <a:ext cx="228600" cy="201168"/>
          </a:xfrm>
          <a:prstGeom prst="rect">
            <a:avLst/>
          </a:prstGeom>
          <a:solidFill>
            <a:srgbClr val="FFF3F3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5715000" y="1316736"/>
            <a:ext cx="228600" cy="201168"/>
          </a:xfrm>
          <a:prstGeom prst="rect">
            <a:avLst/>
          </a:prstGeom>
          <a:solidFill>
            <a:srgbClr val="FFF5F5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5943600" y="1316736"/>
            <a:ext cx="228600" cy="201168"/>
          </a:xfrm>
          <a:prstGeom prst="rect">
            <a:avLst/>
          </a:prstGeom>
          <a:solidFill>
            <a:srgbClr val="FFFBF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6172200" y="1316736"/>
            <a:ext cx="228600" cy="201168"/>
          </a:xfrm>
          <a:prstGeom prst="rect">
            <a:avLst/>
          </a:prstGeom>
          <a:solidFill>
            <a:srgbClr val="F6F9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7" name="Text 67"/>
          <p:cNvSpPr txBox="1"/>
          <p:nvPr/>
        </p:nvSpPr>
        <p:spPr>
          <a:xfrm>
            <a:off x="320040" y="150876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740">
                <a:solidFill>
                  <a:srgbClr val="111111"/>
                </a:solidFill>
              </a:rPr>
              <a:t>Right SctO2 EtCO2</a:t>
            </a:r>
          </a:p>
        </p:txBody>
      </p:sp>
      <p:sp>
        <p:nvSpPr>
          <p:cNvPr id="68" name="Rect 68"/>
          <p:cNvSpPr/>
          <p:nvPr/>
        </p:nvSpPr>
        <p:spPr>
          <a:xfrm>
            <a:off x="1828800" y="1517904"/>
            <a:ext cx="228600" cy="201168"/>
          </a:xfrm>
          <a:prstGeom prst="rect">
            <a:avLst/>
          </a:prstGeom>
          <a:solidFill>
            <a:srgbClr val="FFB9B9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2057400" y="1517904"/>
            <a:ext cx="228600" cy="201168"/>
          </a:xfrm>
          <a:prstGeom prst="rect">
            <a:avLst/>
          </a:prstGeom>
          <a:solidFill>
            <a:srgbClr val="FFAEA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2286000" y="1517904"/>
            <a:ext cx="228600" cy="201168"/>
          </a:xfrm>
          <a:prstGeom prst="rect">
            <a:avLst/>
          </a:prstGeom>
          <a:solidFill>
            <a:srgbClr val="FFA6A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2514600" y="1517904"/>
            <a:ext cx="228600" cy="201168"/>
          </a:xfrm>
          <a:prstGeom prst="rect">
            <a:avLst/>
          </a:prstGeom>
          <a:solidFill>
            <a:srgbClr val="FF9F9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2743200" y="1517904"/>
            <a:ext cx="228600" cy="201168"/>
          </a:xfrm>
          <a:prstGeom prst="rect">
            <a:avLst/>
          </a:prstGeom>
          <a:solidFill>
            <a:srgbClr val="FF9B9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2971800" y="1517904"/>
            <a:ext cx="228600" cy="201168"/>
          </a:xfrm>
          <a:prstGeom prst="rect">
            <a:avLst/>
          </a:prstGeom>
          <a:solidFill>
            <a:srgbClr val="FF9898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3200400" y="1517904"/>
            <a:ext cx="228600" cy="201168"/>
          </a:xfrm>
          <a:prstGeom prst="rect">
            <a:avLst/>
          </a:prstGeom>
          <a:solidFill>
            <a:srgbClr val="FF969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3429000" y="1517904"/>
            <a:ext cx="228600" cy="201168"/>
          </a:xfrm>
          <a:prstGeom prst="rect">
            <a:avLst/>
          </a:prstGeom>
          <a:solidFill>
            <a:srgbClr val="FF9292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3657600" y="1517904"/>
            <a:ext cx="228600" cy="201168"/>
          </a:xfrm>
          <a:prstGeom prst="rect">
            <a:avLst/>
          </a:prstGeom>
          <a:solidFill>
            <a:srgbClr val="FF8F8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3886200" y="1517904"/>
            <a:ext cx="228600" cy="201168"/>
          </a:xfrm>
          <a:prstGeom prst="rect">
            <a:avLst/>
          </a:prstGeom>
          <a:solidFill>
            <a:srgbClr val="FF8A8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4114800" y="1517904"/>
            <a:ext cx="228600" cy="201168"/>
          </a:xfrm>
          <a:prstGeom prst="rect">
            <a:avLst/>
          </a:prstGeom>
          <a:solidFill>
            <a:srgbClr val="FF868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4343400" y="1517904"/>
            <a:ext cx="228600" cy="201168"/>
          </a:xfrm>
          <a:prstGeom prst="rect">
            <a:avLst/>
          </a:prstGeom>
          <a:solidFill>
            <a:srgbClr val="FF8181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4572000" y="1517904"/>
            <a:ext cx="228600" cy="201168"/>
          </a:xfrm>
          <a:prstGeom prst="rect">
            <a:avLst/>
          </a:prstGeom>
          <a:solidFill>
            <a:srgbClr val="FF7C7C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4800600" y="1517904"/>
            <a:ext cx="228600" cy="201168"/>
          </a:xfrm>
          <a:prstGeom prst="rect">
            <a:avLst/>
          </a:prstGeom>
          <a:solidFill>
            <a:srgbClr val="FF767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5029200" y="1517904"/>
            <a:ext cx="228600" cy="201168"/>
          </a:xfrm>
          <a:prstGeom prst="rect">
            <a:avLst/>
          </a:prstGeom>
          <a:solidFill>
            <a:srgbClr val="FF7171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5257800" y="1517904"/>
            <a:ext cx="228600" cy="201168"/>
          </a:xfrm>
          <a:prstGeom prst="rect">
            <a:avLst/>
          </a:prstGeom>
          <a:solidFill>
            <a:srgbClr val="FF6C6C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5486400" y="1517904"/>
            <a:ext cx="228600" cy="201168"/>
          </a:xfrm>
          <a:prstGeom prst="rect">
            <a:avLst/>
          </a:prstGeom>
          <a:solidFill>
            <a:srgbClr val="FF6868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5715000" y="1517904"/>
            <a:ext cx="228600" cy="201168"/>
          </a:xfrm>
          <a:prstGeom prst="rect">
            <a:avLst/>
          </a:prstGeom>
          <a:solidFill>
            <a:srgbClr val="FF666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5943600" y="1517904"/>
            <a:ext cx="228600" cy="201168"/>
          </a:xfrm>
          <a:prstGeom prst="rect">
            <a:avLst/>
          </a:prstGeom>
          <a:solidFill>
            <a:srgbClr val="FF6464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6172200" y="1517904"/>
            <a:ext cx="228600" cy="201168"/>
          </a:xfrm>
          <a:prstGeom prst="rect">
            <a:avLst/>
          </a:prstGeom>
          <a:solidFill>
            <a:srgbClr val="FF6363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8" name="Text 88"/>
          <p:cNvSpPr txBox="1"/>
          <p:nvPr/>
        </p:nvSpPr>
        <p:spPr>
          <a:xfrm>
            <a:off x="320040" y="170992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740">
                <a:solidFill>
                  <a:srgbClr val="111111"/>
                </a:solidFill>
              </a:rPr>
              <a:t>Right SctO2 FiO2</a:t>
            </a:r>
          </a:p>
        </p:txBody>
      </p:sp>
      <p:sp>
        <p:nvSpPr>
          <p:cNvPr id="89" name="Rect 89"/>
          <p:cNvSpPr/>
          <p:nvPr/>
        </p:nvSpPr>
        <p:spPr>
          <a:xfrm>
            <a:off x="1828800" y="1719072"/>
            <a:ext cx="228600" cy="201168"/>
          </a:xfrm>
          <a:prstGeom prst="rect">
            <a:avLst/>
          </a:prstGeom>
          <a:solidFill>
            <a:srgbClr val="FFFEF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2057400" y="1719072"/>
            <a:ext cx="228600" cy="201168"/>
          </a:xfrm>
          <a:prstGeom prst="rect">
            <a:avLst/>
          </a:prstGeom>
          <a:solidFill>
            <a:srgbClr val="EDF2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2286000" y="1719072"/>
            <a:ext cx="228600" cy="201168"/>
          </a:xfrm>
          <a:prstGeom prst="rect">
            <a:avLst/>
          </a:prstGeom>
          <a:solidFill>
            <a:srgbClr val="EFF4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2514600" y="1719072"/>
            <a:ext cx="228600" cy="201168"/>
          </a:xfrm>
          <a:prstGeom prst="rect">
            <a:avLst/>
          </a:prstGeom>
          <a:solidFill>
            <a:srgbClr val="FFFCFC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2743200" y="1719072"/>
            <a:ext cx="228600" cy="201168"/>
          </a:xfrm>
          <a:prstGeom prst="rect">
            <a:avLst/>
          </a:prstGeom>
          <a:solidFill>
            <a:srgbClr val="FFF1F1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2971800" y="1719072"/>
            <a:ext cx="228600" cy="201168"/>
          </a:xfrm>
          <a:prstGeom prst="rect">
            <a:avLst/>
          </a:prstGeom>
          <a:solidFill>
            <a:srgbClr val="FFEBE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3200400" y="1719072"/>
            <a:ext cx="228600" cy="201168"/>
          </a:xfrm>
          <a:prstGeom prst="rect">
            <a:avLst/>
          </a:prstGeom>
          <a:solidFill>
            <a:srgbClr val="FFEAE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3429000" y="1719072"/>
            <a:ext cx="228600" cy="201168"/>
          </a:xfrm>
          <a:prstGeom prst="rect">
            <a:avLst/>
          </a:prstGeom>
          <a:solidFill>
            <a:srgbClr val="FFEEE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3657600" y="1719072"/>
            <a:ext cx="228600" cy="201168"/>
          </a:xfrm>
          <a:prstGeom prst="rect">
            <a:avLst/>
          </a:prstGeom>
          <a:solidFill>
            <a:srgbClr val="FFF6F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3886200" y="1719072"/>
            <a:ext cx="228600" cy="201168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4114800" y="1719072"/>
            <a:ext cx="228600" cy="201168"/>
          </a:xfrm>
          <a:prstGeom prst="rect">
            <a:avLst/>
          </a:prstGeom>
          <a:solidFill>
            <a:srgbClr val="F2F5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4343400" y="1719072"/>
            <a:ext cx="228600" cy="201168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4572000" y="1719072"/>
            <a:ext cx="228600" cy="201168"/>
          </a:xfrm>
          <a:prstGeom prst="rect">
            <a:avLst/>
          </a:prstGeom>
          <a:solidFill>
            <a:srgbClr val="FFF0F0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4800600" y="1719072"/>
            <a:ext cx="228600" cy="201168"/>
          </a:xfrm>
          <a:prstGeom prst="rect">
            <a:avLst/>
          </a:prstGeom>
          <a:solidFill>
            <a:srgbClr val="FFDDDD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5029200" y="1719072"/>
            <a:ext cx="228600" cy="201168"/>
          </a:xfrm>
          <a:prstGeom prst="rect">
            <a:avLst/>
          </a:prstGeom>
          <a:solidFill>
            <a:srgbClr val="FFD6D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5257800" y="1719072"/>
            <a:ext cx="228600" cy="201168"/>
          </a:xfrm>
          <a:prstGeom prst="rect">
            <a:avLst/>
          </a:prstGeom>
          <a:solidFill>
            <a:srgbClr val="FFDBD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5486400" y="1719072"/>
            <a:ext cx="228600" cy="201168"/>
          </a:xfrm>
          <a:prstGeom prst="rect">
            <a:avLst/>
          </a:prstGeom>
          <a:solidFill>
            <a:srgbClr val="FFE8E8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5715000" y="1719072"/>
            <a:ext cx="228600" cy="201168"/>
          </a:xfrm>
          <a:prstGeom prst="rect">
            <a:avLst/>
          </a:prstGeom>
          <a:solidFill>
            <a:srgbClr val="FFF7F7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5943600" y="1719072"/>
            <a:ext cx="228600" cy="201168"/>
          </a:xfrm>
          <a:prstGeom prst="rect">
            <a:avLst/>
          </a:prstGeom>
          <a:solidFill>
            <a:srgbClr val="F2F6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6172200" y="1719072"/>
            <a:ext cx="228600" cy="201168"/>
          </a:xfrm>
          <a:prstGeom prst="rect">
            <a:avLst/>
          </a:prstGeom>
          <a:solidFill>
            <a:srgbClr val="E8EE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09" name="Text 109"/>
          <p:cNvSpPr txBox="1"/>
          <p:nvPr/>
        </p:nvSpPr>
        <p:spPr>
          <a:xfrm>
            <a:off x="320040" y="191109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740">
                <a:solidFill>
                  <a:srgbClr val="111111"/>
                </a:solidFill>
              </a:rPr>
              <a:t>Right SctO2 Temperature</a:t>
            </a:r>
          </a:p>
        </p:txBody>
      </p:sp>
      <p:sp>
        <p:nvSpPr>
          <p:cNvPr id="110" name="Rect 110"/>
          <p:cNvSpPr/>
          <p:nvPr/>
        </p:nvSpPr>
        <p:spPr>
          <a:xfrm>
            <a:off x="1828800" y="1920240"/>
            <a:ext cx="228600" cy="201168"/>
          </a:xfrm>
          <a:prstGeom prst="rect">
            <a:avLst/>
          </a:prstGeom>
          <a:solidFill>
            <a:srgbClr val="FFC9C9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2057400" y="1920240"/>
            <a:ext cx="228600" cy="201168"/>
          </a:xfrm>
          <a:prstGeom prst="rect">
            <a:avLst/>
          </a:prstGeom>
          <a:solidFill>
            <a:srgbClr val="FFD1D1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2286000" y="1920240"/>
            <a:ext cx="228600" cy="201168"/>
          </a:xfrm>
          <a:prstGeom prst="rect">
            <a:avLst/>
          </a:prstGeom>
          <a:solidFill>
            <a:srgbClr val="FFDBD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2514600" y="1920240"/>
            <a:ext cx="228600" cy="201168"/>
          </a:xfrm>
          <a:prstGeom prst="rect">
            <a:avLst/>
          </a:prstGeom>
          <a:solidFill>
            <a:srgbClr val="FFE7E7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2743200" y="1920240"/>
            <a:ext cx="228600" cy="201168"/>
          </a:xfrm>
          <a:prstGeom prst="rect">
            <a:avLst/>
          </a:prstGeom>
          <a:solidFill>
            <a:srgbClr val="FFF3F3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2971800" y="1920240"/>
            <a:ext cx="228600" cy="201168"/>
          </a:xfrm>
          <a:prstGeom prst="rect">
            <a:avLst/>
          </a:prstGeom>
          <a:solidFill>
            <a:srgbClr val="FFFEF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3200400" y="1920240"/>
            <a:ext cx="228600" cy="201168"/>
          </a:xfrm>
          <a:prstGeom prst="rect">
            <a:avLst/>
          </a:prstGeom>
          <a:solidFill>
            <a:srgbClr val="F2F5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3429000" y="1920240"/>
            <a:ext cx="228600" cy="201168"/>
          </a:xfrm>
          <a:prstGeom prst="rect">
            <a:avLst/>
          </a:prstGeom>
          <a:solidFill>
            <a:srgbClr val="E7EE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3657600" y="1920240"/>
            <a:ext cx="228600" cy="201168"/>
          </a:xfrm>
          <a:prstGeom prst="rect">
            <a:avLst/>
          </a:prstGeom>
          <a:solidFill>
            <a:srgbClr val="E2EA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3886200" y="1920240"/>
            <a:ext cx="228600" cy="201168"/>
          </a:xfrm>
          <a:prstGeom prst="rect">
            <a:avLst/>
          </a:prstGeom>
          <a:solidFill>
            <a:srgbClr val="E3EB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0" name="Rect 120"/>
          <p:cNvSpPr/>
          <p:nvPr/>
        </p:nvSpPr>
        <p:spPr>
          <a:xfrm>
            <a:off x="4114800" y="1920240"/>
            <a:ext cx="228600" cy="201168"/>
          </a:xfrm>
          <a:prstGeom prst="rect">
            <a:avLst/>
          </a:prstGeom>
          <a:solidFill>
            <a:srgbClr val="ECF1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1" name="Rect 121"/>
          <p:cNvSpPr/>
          <p:nvPr/>
        </p:nvSpPr>
        <p:spPr>
          <a:xfrm>
            <a:off x="4343400" y="1920240"/>
            <a:ext cx="228600" cy="201168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2" name="Rect 122"/>
          <p:cNvSpPr/>
          <p:nvPr/>
        </p:nvSpPr>
        <p:spPr>
          <a:xfrm>
            <a:off x="4572000" y="1920240"/>
            <a:ext cx="228600" cy="201168"/>
          </a:xfrm>
          <a:prstGeom prst="rect">
            <a:avLst/>
          </a:prstGeom>
          <a:solidFill>
            <a:srgbClr val="FFF7F7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3" name="Rect 123"/>
          <p:cNvSpPr/>
          <p:nvPr/>
        </p:nvSpPr>
        <p:spPr>
          <a:xfrm>
            <a:off x="4800600" y="1920240"/>
            <a:ext cx="228600" cy="201168"/>
          </a:xfrm>
          <a:prstGeom prst="rect">
            <a:avLst/>
          </a:prstGeom>
          <a:solidFill>
            <a:srgbClr val="FFECEC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4" name="Rect 124"/>
          <p:cNvSpPr/>
          <p:nvPr/>
        </p:nvSpPr>
        <p:spPr>
          <a:xfrm>
            <a:off x="5029200" y="1920240"/>
            <a:ext cx="228600" cy="201168"/>
          </a:xfrm>
          <a:prstGeom prst="rect">
            <a:avLst/>
          </a:prstGeom>
          <a:solidFill>
            <a:srgbClr val="FFE2E2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5" name="Rect 125"/>
          <p:cNvSpPr/>
          <p:nvPr/>
        </p:nvSpPr>
        <p:spPr>
          <a:xfrm>
            <a:off x="5257800" y="1920240"/>
            <a:ext cx="228600" cy="201168"/>
          </a:xfrm>
          <a:prstGeom prst="rect">
            <a:avLst/>
          </a:prstGeom>
          <a:solidFill>
            <a:srgbClr val="FFDBD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6" name="Rect 126"/>
          <p:cNvSpPr/>
          <p:nvPr/>
        </p:nvSpPr>
        <p:spPr>
          <a:xfrm>
            <a:off x="5486400" y="1920240"/>
            <a:ext cx="228600" cy="201168"/>
          </a:xfrm>
          <a:prstGeom prst="rect">
            <a:avLst/>
          </a:prstGeom>
          <a:solidFill>
            <a:srgbClr val="FFDBD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7" name="Rect 127"/>
          <p:cNvSpPr/>
          <p:nvPr/>
        </p:nvSpPr>
        <p:spPr>
          <a:xfrm>
            <a:off x="5715000" y="1920240"/>
            <a:ext cx="228600" cy="201168"/>
          </a:xfrm>
          <a:prstGeom prst="rect">
            <a:avLst/>
          </a:prstGeom>
          <a:solidFill>
            <a:srgbClr val="FFE1E1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8" name="Rect 128"/>
          <p:cNvSpPr/>
          <p:nvPr/>
        </p:nvSpPr>
        <p:spPr>
          <a:xfrm>
            <a:off x="5943600" y="1920240"/>
            <a:ext cx="228600" cy="201168"/>
          </a:xfrm>
          <a:prstGeom prst="rect">
            <a:avLst/>
          </a:prstGeom>
          <a:solidFill>
            <a:srgbClr val="FFECEC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9" name="Rect 129"/>
          <p:cNvSpPr/>
          <p:nvPr/>
        </p:nvSpPr>
        <p:spPr>
          <a:xfrm>
            <a:off x="6172200" y="1920240"/>
            <a:ext cx="228600" cy="201168"/>
          </a:xfrm>
          <a:prstGeom prst="rect">
            <a:avLst/>
          </a:prstGeom>
          <a:solidFill>
            <a:srgbClr val="FFF6F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0" name="Text 130"/>
          <p:cNvSpPr txBox="1"/>
          <p:nvPr/>
        </p:nvSpPr>
        <p:spPr>
          <a:xfrm>
            <a:off x="320040" y="211226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740">
                <a:solidFill>
                  <a:srgbClr val="111111"/>
                </a:solidFill>
              </a:rPr>
              <a:t>SftO2 EtCO2</a:t>
            </a:r>
          </a:p>
        </p:txBody>
      </p:sp>
      <p:sp>
        <p:nvSpPr>
          <p:cNvPr id="131" name="Rect 131"/>
          <p:cNvSpPr/>
          <p:nvPr/>
        </p:nvSpPr>
        <p:spPr>
          <a:xfrm>
            <a:off x="1828800" y="2121408"/>
            <a:ext cx="228600" cy="201168"/>
          </a:xfrm>
          <a:prstGeom prst="rect">
            <a:avLst/>
          </a:prstGeom>
          <a:solidFill>
            <a:srgbClr val="FFB6B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2" name="Rect 132"/>
          <p:cNvSpPr/>
          <p:nvPr/>
        </p:nvSpPr>
        <p:spPr>
          <a:xfrm>
            <a:off x="2057400" y="2121408"/>
            <a:ext cx="228600" cy="201168"/>
          </a:xfrm>
          <a:prstGeom prst="rect">
            <a:avLst/>
          </a:prstGeom>
          <a:solidFill>
            <a:srgbClr val="FFB6B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3" name="Rect 133"/>
          <p:cNvSpPr/>
          <p:nvPr/>
        </p:nvSpPr>
        <p:spPr>
          <a:xfrm>
            <a:off x="2286000" y="2121408"/>
            <a:ext cx="228600" cy="201168"/>
          </a:xfrm>
          <a:prstGeom prst="rect">
            <a:avLst/>
          </a:prstGeom>
          <a:solidFill>
            <a:srgbClr val="FFB7B7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4" name="Rect 134"/>
          <p:cNvSpPr/>
          <p:nvPr/>
        </p:nvSpPr>
        <p:spPr>
          <a:xfrm>
            <a:off x="2514600" y="2121408"/>
            <a:ext cx="228600" cy="201168"/>
          </a:xfrm>
          <a:prstGeom prst="rect">
            <a:avLst/>
          </a:prstGeom>
          <a:solidFill>
            <a:srgbClr val="FFB7B7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5" name="Rect 135"/>
          <p:cNvSpPr/>
          <p:nvPr/>
        </p:nvSpPr>
        <p:spPr>
          <a:xfrm>
            <a:off x="2743200" y="2121408"/>
            <a:ext cx="228600" cy="201168"/>
          </a:xfrm>
          <a:prstGeom prst="rect">
            <a:avLst/>
          </a:prstGeom>
          <a:solidFill>
            <a:srgbClr val="FFB8B8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6" name="Rect 136"/>
          <p:cNvSpPr/>
          <p:nvPr/>
        </p:nvSpPr>
        <p:spPr>
          <a:xfrm>
            <a:off x="2971800" y="2121408"/>
            <a:ext cx="228600" cy="201168"/>
          </a:xfrm>
          <a:prstGeom prst="rect">
            <a:avLst/>
          </a:prstGeom>
          <a:solidFill>
            <a:srgbClr val="FFB9B9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7" name="Rect 137"/>
          <p:cNvSpPr/>
          <p:nvPr/>
        </p:nvSpPr>
        <p:spPr>
          <a:xfrm>
            <a:off x="3200400" y="2121408"/>
            <a:ext cx="228600" cy="201168"/>
          </a:xfrm>
          <a:prstGeom prst="rect">
            <a:avLst/>
          </a:prstGeom>
          <a:solidFill>
            <a:srgbClr val="FFBAB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8" name="Rect 138"/>
          <p:cNvSpPr/>
          <p:nvPr/>
        </p:nvSpPr>
        <p:spPr>
          <a:xfrm>
            <a:off x="3429000" y="2121408"/>
            <a:ext cx="228600" cy="201168"/>
          </a:xfrm>
          <a:prstGeom prst="rect">
            <a:avLst/>
          </a:prstGeom>
          <a:solidFill>
            <a:srgbClr val="FFBBB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39" name="Rect 139"/>
          <p:cNvSpPr/>
          <p:nvPr/>
        </p:nvSpPr>
        <p:spPr>
          <a:xfrm>
            <a:off x="3657600" y="2121408"/>
            <a:ext cx="228600" cy="201168"/>
          </a:xfrm>
          <a:prstGeom prst="rect">
            <a:avLst/>
          </a:prstGeom>
          <a:solidFill>
            <a:srgbClr val="FFBDBD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0" name="Rect 140"/>
          <p:cNvSpPr/>
          <p:nvPr/>
        </p:nvSpPr>
        <p:spPr>
          <a:xfrm>
            <a:off x="3886200" y="2121408"/>
            <a:ext cx="228600" cy="201168"/>
          </a:xfrm>
          <a:prstGeom prst="rect">
            <a:avLst/>
          </a:prstGeom>
          <a:solidFill>
            <a:srgbClr val="FFBEB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1" name="Rect 141"/>
          <p:cNvSpPr/>
          <p:nvPr/>
        </p:nvSpPr>
        <p:spPr>
          <a:xfrm>
            <a:off x="4114800" y="2121408"/>
            <a:ext cx="228600" cy="201168"/>
          </a:xfrm>
          <a:prstGeom prst="rect">
            <a:avLst/>
          </a:prstGeom>
          <a:solidFill>
            <a:srgbClr val="FFC0C0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2" name="Rect 142"/>
          <p:cNvSpPr/>
          <p:nvPr/>
        </p:nvSpPr>
        <p:spPr>
          <a:xfrm>
            <a:off x="4343400" y="2121408"/>
            <a:ext cx="228600" cy="201168"/>
          </a:xfrm>
          <a:prstGeom prst="rect">
            <a:avLst/>
          </a:prstGeom>
          <a:solidFill>
            <a:srgbClr val="FFC1C1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3" name="Rect 143"/>
          <p:cNvSpPr/>
          <p:nvPr/>
        </p:nvSpPr>
        <p:spPr>
          <a:xfrm>
            <a:off x="4572000" y="2121408"/>
            <a:ext cx="228600" cy="201168"/>
          </a:xfrm>
          <a:prstGeom prst="rect">
            <a:avLst/>
          </a:prstGeom>
          <a:solidFill>
            <a:srgbClr val="FFC3C3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4" name="Rect 144"/>
          <p:cNvSpPr/>
          <p:nvPr/>
        </p:nvSpPr>
        <p:spPr>
          <a:xfrm>
            <a:off x="4800600" y="2121408"/>
            <a:ext cx="228600" cy="201168"/>
          </a:xfrm>
          <a:prstGeom prst="rect">
            <a:avLst/>
          </a:prstGeom>
          <a:solidFill>
            <a:srgbClr val="FFC4C4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5" name="Rect 145"/>
          <p:cNvSpPr/>
          <p:nvPr/>
        </p:nvSpPr>
        <p:spPr>
          <a:xfrm>
            <a:off x="5029200" y="2121408"/>
            <a:ext cx="228600" cy="201168"/>
          </a:xfrm>
          <a:prstGeom prst="rect">
            <a:avLst/>
          </a:prstGeom>
          <a:solidFill>
            <a:srgbClr val="FFC6C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6" name="Rect 146"/>
          <p:cNvSpPr/>
          <p:nvPr/>
        </p:nvSpPr>
        <p:spPr>
          <a:xfrm>
            <a:off x="5257800" y="2121408"/>
            <a:ext cx="228600" cy="201168"/>
          </a:xfrm>
          <a:prstGeom prst="rect">
            <a:avLst/>
          </a:prstGeom>
          <a:solidFill>
            <a:srgbClr val="FFC7C7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7" name="Rect 147"/>
          <p:cNvSpPr/>
          <p:nvPr/>
        </p:nvSpPr>
        <p:spPr>
          <a:xfrm>
            <a:off x="5486400" y="2121408"/>
            <a:ext cx="228600" cy="201168"/>
          </a:xfrm>
          <a:prstGeom prst="rect">
            <a:avLst/>
          </a:prstGeom>
          <a:solidFill>
            <a:srgbClr val="FFC9C9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8" name="Rect 148"/>
          <p:cNvSpPr/>
          <p:nvPr/>
        </p:nvSpPr>
        <p:spPr>
          <a:xfrm>
            <a:off x="5715000" y="2121408"/>
            <a:ext cx="228600" cy="201168"/>
          </a:xfrm>
          <a:prstGeom prst="rect">
            <a:avLst/>
          </a:prstGeom>
          <a:solidFill>
            <a:srgbClr val="FFCBC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49" name="Rect 149"/>
          <p:cNvSpPr/>
          <p:nvPr/>
        </p:nvSpPr>
        <p:spPr>
          <a:xfrm>
            <a:off x="5943600" y="2121408"/>
            <a:ext cx="228600" cy="201168"/>
          </a:xfrm>
          <a:prstGeom prst="rect">
            <a:avLst/>
          </a:prstGeom>
          <a:solidFill>
            <a:srgbClr val="FFCCCC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0" name="Rect 150"/>
          <p:cNvSpPr/>
          <p:nvPr/>
        </p:nvSpPr>
        <p:spPr>
          <a:xfrm>
            <a:off x="6172200" y="2121408"/>
            <a:ext cx="228600" cy="201168"/>
          </a:xfrm>
          <a:prstGeom prst="rect">
            <a:avLst/>
          </a:prstGeom>
          <a:solidFill>
            <a:srgbClr val="FFCEC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1" name="Text 151"/>
          <p:cNvSpPr txBox="1"/>
          <p:nvPr/>
        </p:nvSpPr>
        <p:spPr>
          <a:xfrm>
            <a:off x="320040" y="23134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740">
                <a:solidFill>
                  <a:srgbClr val="111111"/>
                </a:solidFill>
              </a:rPr>
              <a:t>SftO2 FiO2</a:t>
            </a:r>
          </a:p>
        </p:txBody>
      </p:sp>
      <p:sp>
        <p:nvSpPr>
          <p:cNvPr id="152" name="Rect 152"/>
          <p:cNvSpPr/>
          <p:nvPr/>
        </p:nvSpPr>
        <p:spPr>
          <a:xfrm>
            <a:off x="1828800" y="2322576"/>
            <a:ext cx="228600" cy="201168"/>
          </a:xfrm>
          <a:prstGeom prst="rect">
            <a:avLst/>
          </a:prstGeom>
          <a:solidFill>
            <a:srgbClr val="DFE8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3" name="Rect 153"/>
          <p:cNvSpPr/>
          <p:nvPr/>
        </p:nvSpPr>
        <p:spPr>
          <a:xfrm>
            <a:off x="2057400" y="2322576"/>
            <a:ext cx="228600" cy="201168"/>
          </a:xfrm>
          <a:prstGeom prst="rect">
            <a:avLst/>
          </a:prstGeom>
          <a:solidFill>
            <a:srgbClr val="DBE5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4" name="Rect 154"/>
          <p:cNvSpPr/>
          <p:nvPr/>
        </p:nvSpPr>
        <p:spPr>
          <a:xfrm>
            <a:off x="2286000" y="2322576"/>
            <a:ext cx="228600" cy="201168"/>
          </a:xfrm>
          <a:prstGeom prst="rect">
            <a:avLst/>
          </a:prstGeom>
          <a:solidFill>
            <a:srgbClr val="DFE8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5" name="Rect 155"/>
          <p:cNvSpPr/>
          <p:nvPr/>
        </p:nvSpPr>
        <p:spPr>
          <a:xfrm>
            <a:off x="2514600" y="2322576"/>
            <a:ext cx="228600" cy="201168"/>
          </a:xfrm>
          <a:prstGeom prst="rect">
            <a:avLst/>
          </a:prstGeom>
          <a:solidFill>
            <a:srgbClr val="E9E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6" name="Rect 156"/>
          <p:cNvSpPr/>
          <p:nvPr/>
        </p:nvSpPr>
        <p:spPr>
          <a:xfrm>
            <a:off x="2743200" y="2322576"/>
            <a:ext cx="228600" cy="201168"/>
          </a:xfrm>
          <a:prstGeom prst="rect">
            <a:avLst/>
          </a:prstGeom>
          <a:solidFill>
            <a:srgbClr val="F3F6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7" name="Rect 157"/>
          <p:cNvSpPr/>
          <p:nvPr/>
        </p:nvSpPr>
        <p:spPr>
          <a:xfrm>
            <a:off x="2971800" y="2322576"/>
            <a:ext cx="228600" cy="201168"/>
          </a:xfrm>
          <a:prstGeom prst="rect">
            <a:avLst/>
          </a:prstGeom>
          <a:solidFill>
            <a:srgbClr val="FBFC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8" name="Rect 158"/>
          <p:cNvSpPr/>
          <p:nvPr/>
        </p:nvSpPr>
        <p:spPr>
          <a:xfrm>
            <a:off x="3200400" y="2322576"/>
            <a:ext cx="228600" cy="201168"/>
          </a:xfrm>
          <a:prstGeom prst="rect">
            <a:avLst/>
          </a:prstGeom>
          <a:solidFill>
            <a:srgbClr val="FFFCFC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9" name="Rect 159"/>
          <p:cNvSpPr/>
          <p:nvPr/>
        </p:nvSpPr>
        <p:spPr>
          <a:xfrm>
            <a:off x="3429000" y="2322576"/>
            <a:ext cx="228600" cy="201168"/>
          </a:xfrm>
          <a:prstGeom prst="rect">
            <a:avLst/>
          </a:prstGeom>
          <a:solidFill>
            <a:srgbClr val="FFF9F9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0" name="Rect 160"/>
          <p:cNvSpPr/>
          <p:nvPr/>
        </p:nvSpPr>
        <p:spPr>
          <a:xfrm>
            <a:off x="3657600" y="2322576"/>
            <a:ext cx="228600" cy="201168"/>
          </a:xfrm>
          <a:prstGeom prst="rect">
            <a:avLst/>
          </a:prstGeom>
          <a:solidFill>
            <a:srgbClr val="FFF7F7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1" name="Rect 161"/>
          <p:cNvSpPr/>
          <p:nvPr/>
        </p:nvSpPr>
        <p:spPr>
          <a:xfrm>
            <a:off x="3886200" y="2322576"/>
            <a:ext cx="228600" cy="201168"/>
          </a:xfrm>
          <a:prstGeom prst="rect">
            <a:avLst/>
          </a:prstGeom>
          <a:solidFill>
            <a:srgbClr val="FFF6F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2" name="Rect 162"/>
          <p:cNvSpPr/>
          <p:nvPr/>
        </p:nvSpPr>
        <p:spPr>
          <a:xfrm>
            <a:off x="4114800" y="2322576"/>
            <a:ext cx="228600" cy="201168"/>
          </a:xfrm>
          <a:prstGeom prst="rect">
            <a:avLst/>
          </a:prstGeom>
          <a:solidFill>
            <a:srgbClr val="FFF7F7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3" name="Rect 163"/>
          <p:cNvSpPr/>
          <p:nvPr/>
        </p:nvSpPr>
        <p:spPr>
          <a:xfrm>
            <a:off x="4343400" y="2322576"/>
            <a:ext cx="228600" cy="201168"/>
          </a:xfrm>
          <a:prstGeom prst="rect">
            <a:avLst/>
          </a:prstGeom>
          <a:solidFill>
            <a:srgbClr val="FFF8F8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4" name="Rect 164"/>
          <p:cNvSpPr/>
          <p:nvPr/>
        </p:nvSpPr>
        <p:spPr>
          <a:xfrm>
            <a:off x="4572000" y="2322576"/>
            <a:ext cx="228600" cy="201168"/>
          </a:xfrm>
          <a:prstGeom prst="rect">
            <a:avLst/>
          </a:prstGeom>
          <a:solidFill>
            <a:srgbClr val="FFFBFB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5" name="Rect 165"/>
          <p:cNvSpPr/>
          <p:nvPr/>
        </p:nvSpPr>
        <p:spPr>
          <a:xfrm>
            <a:off x="4800600" y="2322576"/>
            <a:ext cx="228600" cy="201168"/>
          </a:xfrm>
          <a:prstGeom prst="rect">
            <a:avLst/>
          </a:prstGeom>
          <a:solidFill>
            <a:srgbClr val="FFFEF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6" name="Rect 166"/>
          <p:cNvSpPr/>
          <p:nvPr/>
        </p:nvSpPr>
        <p:spPr>
          <a:xfrm>
            <a:off x="5029200" y="2322576"/>
            <a:ext cx="228600" cy="201168"/>
          </a:xfrm>
          <a:prstGeom prst="rect">
            <a:avLst/>
          </a:prstGeom>
          <a:solidFill>
            <a:srgbClr val="FCFD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7" name="Rect 167"/>
          <p:cNvSpPr/>
          <p:nvPr/>
        </p:nvSpPr>
        <p:spPr>
          <a:xfrm>
            <a:off x="5257800" y="2322576"/>
            <a:ext cx="228600" cy="201168"/>
          </a:xfrm>
          <a:prstGeom prst="rect">
            <a:avLst/>
          </a:prstGeom>
          <a:solidFill>
            <a:srgbClr val="FCFC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8" name="Rect 168"/>
          <p:cNvSpPr/>
          <p:nvPr/>
        </p:nvSpPr>
        <p:spPr>
          <a:xfrm>
            <a:off x="5486400" y="2322576"/>
            <a:ext cx="228600" cy="201168"/>
          </a:xfrm>
          <a:prstGeom prst="rect">
            <a:avLst/>
          </a:prstGeom>
          <a:solidFill>
            <a:srgbClr val="FDFD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9" name="Rect 169"/>
          <p:cNvSpPr/>
          <p:nvPr/>
        </p:nvSpPr>
        <p:spPr>
          <a:xfrm>
            <a:off x="5715000" y="2322576"/>
            <a:ext cx="228600" cy="201168"/>
          </a:xfrm>
          <a:prstGeom prst="rect">
            <a:avLst/>
          </a:prstGeom>
          <a:solidFill>
            <a:srgbClr val="FFFEF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0" name="Rect 170"/>
          <p:cNvSpPr/>
          <p:nvPr/>
        </p:nvSpPr>
        <p:spPr>
          <a:xfrm>
            <a:off x="5943600" y="2322576"/>
            <a:ext cx="228600" cy="201168"/>
          </a:xfrm>
          <a:prstGeom prst="rect">
            <a:avLst/>
          </a:prstGeom>
          <a:solidFill>
            <a:srgbClr val="FFFAF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1" name="Rect 171"/>
          <p:cNvSpPr/>
          <p:nvPr/>
        </p:nvSpPr>
        <p:spPr>
          <a:xfrm>
            <a:off x="6172200" y="2322576"/>
            <a:ext cx="228600" cy="201168"/>
          </a:xfrm>
          <a:prstGeom prst="rect">
            <a:avLst/>
          </a:prstGeom>
          <a:solidFill>
            <a:srgbClr val="FFF6F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2" name="Text 172"/>
          <p:cNvSpPr txBox="1"/>
          <p:nvPr/>
        </p:nvSpPr>
        <p:spPr>
          <a:xfrm>
            <a:off x="320040" y="251460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740">
                <a:solidFill>
                  <a:srgbClr val="111111"/>
                </a:solidFill>
              </a:rPr>
              <a:t>SftO2 Temperature</a:t>
            </a:r>
          </a:p>
        </p:txBody>
      </p:sp>
      <p:sp>
        <p:nvSpPr>
          <p:cNvPr id="173" name="Rect 173"/>
          <p:cNvSpPr/>
          <p:nvPr/>
        </p:nvSpPr>
        <p:spPr>
          <a:xfrm>
            <a:off x="1828800" y="2523744"/>
            <a:ext cx="228600" cy="201168"/>
          </a:xfrm>
          <a:prstGeom prst="rect">
            <a:avLst/>
          </a:prstGeom>
          <a:solidFill>
            <a:srgbClr val="FFE7E7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4" name="Rect 174"/>
          <p:cNvSpPr/>
          <p:nvPr/>
        </p:nvSpPr>
        <p:spPr>
          <a:xfrm>
            <a:off x="2057400" y="2523744"/>
            <a:ext cx="228600" cy="201168"/>
          </a:xfrm>
          <a:prstGeom prst="rect">
            <a:avLst/>
          </a:prstGeom>
          <a:solidFill>
            <a:srgbClr val="FFE7E7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5" name="Rect 175"/>
          <p:cNvSpPr/>
          <p:nvPr/>
        </p:nvSpPr>
        <p:spPr>
          <a:xfrm>
            <a:off x="2286000" y="2523744"/>
            <a:ext cx="228600" cy="201168"/>
          </a:xfrm>
          <a:prstGeom prst="rect">
            <a:avLst/>
          </a:prstGeom>
          <a:solidFill>
            <a:srgbClr val="FFE8E8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6" name="Rect 176"/>
          <p:cNvSpPr/>
          <p:nvPr/>
        </p:nvSpPr>
        <p:spPr>
          <a:xfrm>
            <a:off x="2514600" y="2523744"/>
            <a:ext cx="228600" cy="201168"/>
          </a:xfrm>
          <a:prstGeom prst="rect">
            <a:avLst/>
          </a:prstGeom>
          <a:solidFill>
            <a:srgbClr val="FFEAE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7" name="Rect 177"/>
          <p:cNvSpPr/>
          <p:nvPr/>
        </p:nvSpPr>
        <p:spPr>
          <a:xfrm>
            <a:off x="2743200" y="2523744"/>
            <a:ext cx="228600" cy="201168"/>
          </a:xfrm>
          <a:prstGeom prst="rect">
            <a:avLst/>
          </a:prstGeom>
          <a:solidFill>
            <a:srgbClr val="FFECEC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8" name="Rect 178"/>
          <p:cNvSpPr/>
          <p:nvPr/>
        </p:nvSpPr>
        <p:spPr>
          <a:xfrm>
            <a:off x="2971800" y="2523744"/>
            <a:ext cx="228600" cy="201168"/>
          </a:xfrm>
          <a:prstGeom prst="rect">
            <a:avLst/>
          </a:prstGeom>
          <a:solidFill>
            <a:srgbClr val="FFEEEE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9" name="Rect 179"/>
          <p:cNvSpPr/>
          <p:nvPr/>
        </p:nvSpPr>
        <p:spPr>
          <a:xfrm>
            <a:off x="3200400" y="2523744"/>
            <a:ext cx="228600" cy="201168"/>
          </a:xfrm>
          <a:prstGeom prst="rect">
            <a:avLst/>
          </a:prstGeom>
          <a:solidFill>
            <a:srgbClr val="FFF1F1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0" name="Rect 180"/>
          <p:cNvSpPr/>
          <p:nvPr/>
        </p:nvSpPr>
        <p:spPr>
          <a:xfrm>
            <a:off x="3429000" y="2523744"/>
            <a:ext cx="228600" cy="201168"/>
          </a:xfrm>
          <a:prstGeom prst="rect">
            <a:avLst/>
          </a:prstGeom>
          <a:solidFill>
            <a:srgbClr val="FFF4F4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1" name="Rect 181"/>
          <p:cNvSpPr/>
          <p:nvPr/>
        </p:nvSpPr>
        <p:spPr>
          <a:xfrm>
            <a:off x="3657600" y="2523744"/>
            <a:ext cx="228600" cy="201168"/>
          </a:xfrm>
          <a:prstGeom prst="rect">
            <a:avLst/>
          </a:prstGeom>
          <a:solidFill>
            <a:srgbClr val="FFF6F6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2" name="Rect 182"/>
          <p:cNvSpPr/>
          <p:nvPr/>
        </p:nvSpPr>
        <p:spPr>
          <a:xfrm>
            <a:off x="3886200" y="2523744"/>
            <a:ext cx="228600" cy="201168"/>
          </a:xfrm>
          <a:prstGeom prst="rect">
            <a:avLst/>
          </a:prstGeom>
          <a:solidFill>
            <a:srgbClr val="FFF8F8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3" name="Rect 183"/>
          <p:cNvSpPr/>
          <p:nvPr/>
        </p:nvSpPr>
        <p:spPr>
          <a:xfrm>
            <a:off x="4114800" y="2523744"/>
            <a:ext cx="228600" cy="201168"/>
          </a:xfrm>
          <a:prstGeom prst="rect">
            <a:avLst/>
          </a:prstGeom>
          <a:solidFill>
            <a:srgbClr val="FFFAF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4" name="Rect 184"/>
          <p:cNvSpPr/>
          <p:nvPr/>
        </p:nvSpPr>
        <p:spPr>
          <a:xfrm>
            <a:off x="4343400" y="2523744"/>
            <a:ext cx="228600" cy="201168"/>
          </a:xfrm>
          <a:prstGeom prst="rect">
            <a:avLst/>
          </a:prstGeom>
          <a:solidFill>
            <a:srgbClr val="FFFAF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5" name="Rect 185"/>
          <p:cNvSpPr/>
          <p:nvPr/>
        </p:nvSpPr>
        <p:spPr>
          <a:xfrm>
            <a:off x="4572000" y="2523744"/>
            <a:ext cx="228600" cy="201168"/>
          </a:xfrm>
          <a:prstGeom prst="rect">
            <a:avLst/>
          </a:prstGeom>
          <a:solidFill>
            <a:srgbClr val="FFFAF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6" name="Rect 186"/>
          <p:cNvSpPr/>
          <p:nvPr/>
        </p:nvSpPr>
        <p:spPr>
          <a:xfrm>
            <a:off x="4800600" y="2523744"/>
            <a:ext cx="228600" cy="201168"/>
          </a:xfrm>
          <a:prstGeom prst="rect">
            <a:avLst/>
          </a:prstGeom>
          <a:solidFill>
            <a:srgbClr val="FFFAF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7" name="Rect 187"/>
          <p:cNvSpPr/>
          <p:nvPr/>
        </p:nvSpPr>
        <p:spPr>
          <a:xfrm>
            <a:off x="5029200" y="2523744"/>
            <a:ext cx="228600" cy="201168"/>
          </a:xfrm>
          <a:prstGeom prst="rect">
            <a:avLst/>
          </a:prstGeom>
          <a:solidFill>
            <a:srgbClr val="FFF9F9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8" name="Rect 188"/>
          <p:cNvSpPr/>
          <p:nvPr/>
        </p:nvSpPr>
        <p:spPr>
          <a:xfrm>
            <a:off x="5257800" y="2523744"/>
            <a:ext cx="228600" cy="201168"/>
          </a:xfrm>
          <a:prstGeom prst="rect">
            <a:avLst/>
          </a:prstGeom>
          <a:solidFill>
            <a:srgbClr val="FFF7F7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9" name="Rect 189"/>
          <p:cNvSpPr/>
          <p:nvPr/>
        </p:nvSpPr>
        <p:spPr>
          <a:xfrm>
            <a:off x="5486400" y="2523744"/>
            <a:ext cx="228600" cy="201168"/>
          </a:xfrm>
          <a:prstGeom prst="rect">
            <a:avLst/>
          </a:prstGeom>
          <a:solidFill>
            <a:srgbClr val="FFF4F4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90" name="Rect 190"/>
          <p:cNvSpPr/>
          <p:nvPr/>
        </p:nvSpPr>
        <p:spPr>
          <a:xfrm>
            <a:off x="5715000" y="2523744"/>
            <a:ext cx="228600" cy="201168"/>
          </a:xfrm>
          <a:prstGeom prst="rect">
            <a:avLst/>
          </a:prstGeom>
          <a:solidFill>
            <a:srgbClr val="FFF1F1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91" name="Rect 191"/>
          <p:cNvSpPr/>
          <p:nvPr/>
        </p:nvSpPr>
        <p:spPr>
          <a:xfrm>
            <a:off x="5943600" y="2523744"/>
            <a:ext cx="228600" cy="201168"/>
          </a:xfrm>
          <a:prstGeom prst="rect">
            <a:avLst/>
          </a:prstGeom>
          <a:solidFill>
            <a:srgbClr val="FFEDED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92" name="Rect 192"/>
          <p:cNvSpPr/>
          <p:nvPr/>
        </p:nvSpPr>
        <p:spPr>
          <a:xfrm>
            <a:off x="6172200" y="2523744"/>
            <a:ext cx="228600" cy="201168"/>
          </a:xfrm>
          <a:prstGeom prst="rect">
            <a:avLst/>
          </a:prstGeom>
          <a:solidFill>
            <a:srgbClr val="FFEAEA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93" name="Text 193"/>
          <p:cNvSpPr txBox="1"/>
          <p:nvPr/>
        </p:nvSpPr>
        <p:spPr>
          <a:xfrm>
            <a:off x="1819656" y="713232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65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94" name="Text 194"/>
          <p:cNvSpPr txBox="1"/>
          <p:nvPr/>
        </p:nvSpPr>
        <p:spPr>
          <a:xfrm>
            <a:off x="2276856" y="713232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650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95" name="Text 195"/>
          <p:cNvSpPr txBox="1"/>
          <p:nvPr/>
        </p:nvSpPr>
        <p:spPr>
          <a:xfrm>
            <a:off x="2734056" y="713232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650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96" name="Text 196"/>
          <p:cNvSpPr txBox="1"/>
          <p:nvPr/>
        </p:nvSpPr>
        <p:spPr>
          <a:xfrm>
            <a:off x="3191256" y="713232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650">
                <a:solidFill>
                  <a:srgbClr val="111111"/>
                </a:solidFill>
              </a:rPr>
              <a:t>7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3648456" y="713232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650">
                <a:solidFill>
                  <a:srgbClr val="111111"/>
                </a:solidFill>
              </a:rPr>
              <a:t>9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4105656" y="713232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650">
                <a:solidFill>
                  <a:srgbClr val="111111"/>
                </a:solidFill>
              </a:rPr>
              <a:t>11</a:t>
            </a:r>
          </a:p>
        </p:txBody>
      </p:sp>
      <p:sp>
        <p:nvSpPr>
          <p:cNvPr id="199" name="Text 199"/>
          <p:cNvSpPr txBox="1"/>
          <p:nvPr/>
        </p:nvSpPr>
        <p:spPr>
          <a:xfrm>
            <a:off x="4562856" y="713232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650">
                <a:solidFill>
                  <a:srgbClr val="111111"/>
                </a:solidFill>
              </a:rPr>
              <a:t>13</a:t>
            </a:r>
          </a:p>
        </p:txBody>
      </p:sp>
      <p:sp>
        <p:nvSpPr>
          <p:cNvPr id="200" name="Text 200"/>
          <p:cNvSpPr txBox="1"/>
          <p:nvPr/>
        </p:nvSpPr>
        <p:spPr>
          <a:xfrm>
            <a:off x="5020056" y="713232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650">
                <a:solidFill>
                  <a:srgbClr val="111111"/>
                </a:solidFill>
              </a:rPr>
              <a:t>15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5477256" y="713232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650">
                <a:solidFill>
                  <a:srgbClr val="111111"/>
                </a:solidFill>
              </a:rPr>
              <a:t>17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5934456" y="713232"/>
            <a:ext cx="228600" cy="137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650">
                <a:solidFill>
                  <a:srgbClr val="111111"/>
                </a:solidFill>
              </a:rPr>
              <a:t>19</a:t>
            </a:r>
          </a:p>
        </p:txBody>
      </p:sp>
      <p:sp>
        <p:nvSpPr>
          <p:cNvPr id="203" name="Text 203"/>
          <p:cNvSpPr txBox="1"/>
          <p:nvPr/>
        </p:nvSpPr>
        <p:spPr>
          <a:xfrm>
            <a:off x="6903720" y="1051560"/>
            <a:ext cx="4389120" cy="1005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34155"/>
                </a:solidFill>
              </a:rPr>
              <a:t>Rows combine outcome channel and exposure.</a:t>
            </a:r>
          </a:p>
          <a:p>
            <a:pPr algn="l"/>
            <a:r>
              <a:rPr lang="en-US" sz="1200">
                <a:solidFill>
                  <a:srgbClr val="334155"/>
                </a:solidFill>
              </a:rPr>
              <a:t>Columns S01-S20 span each exposure's model-input 5%-95% range.</a:t>
            </a:r>
          </a:p>
          <a:p>
            <a:pPr algn="l"/>
            <a:r>
              <a:rPr lang="en-US" sz="1200">
                <a:solidFill>
                  <a:srgbClr val="334155"/>
                </a:solidFill>
              </a:rPr>
              <a:t>Blue indicates negative effects; red indicates positive effects.</a:t>
            </a:r>
          </a:p>
        </p:txBody>
      </p:sp>
      <p:sp>
        <p:nvSpPr>
          <p:cNvPr id="204" name="Rect 204"/>
          <p:cNvSpPr/>
          <p:nvPr/>
        </p:nvSpPr>
        <p:spPr>
          <a:xfrm>
            <a:off x="7040880" y="2423160"/>
            <a:ext cx="320040" cy="219456"/>
          </a:xfrm>
          <a:prstGeom prst="rect">
            <a:avLst/>
          </a:prstGeom>
          <a:solidFill>
            <a:srgbClr val="2563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05" name="Text 205"/>
          <p:cNvSpPr txBox="1"/>
          <p:nvPr/>
        </p:nvSpPr>
        <p:spPr>
          <a:xfrm>
            <a:off x="7406640" y="241401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>
                <a:solidFill>
                  <a:srgbClr val="111111"/>
                </a:solidFill>
              </a:rPr>
              <a:t>negative</a:t>
            </a:r>
          </a:p>
        </p:txBody>
      </p:sp>
      <p:sp>
        <p:nvSpPr>
          <p:cNvPr id="206" name="Rect 206"/>
          <p:cNvSpPr/>
          <p:nvPr/>
        </p:nvSpPr>
        <p:spPr>
          <a:xfrm>
            <a:off x="7040880" y="2743200"/>
            <a:ext cx="32004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207" name="Text 207"/>
          <p:cNvSpPr txBox="1"/>
          <p:nvPr/>
        </p:nvSpPr>
        <p:spPr>
          <a:xfrm>
            <a:off x="7406640" y="273405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>
                <a:solidFill>
                  <a:srgbClr val="111111"/>
                </a:solidFill>
              </a:rPr>
              <a:t>near zero</a:t>
            </a:r>
          </a:p>
        </p:txBody>
      </p:sp>
      <p:sp>
        <p:nvSpPr>
          <p:cNvPr id="208" name="Rect 208"/>
          <p:cNvSpPr/>
          <p:nvPr/>
        </p:nvSpPr>
        <p:spPr>
          <a:xfrm>
            <a:off x="7040880" y="3063240"/>
            <a:ext cx="320040" cy="219456"/>
          </a:xfrm>
          <a:prstGeom prst="rect">
            <a:avLst/>
          </a:prstGeom>
          <a:solidFill>
            <a:srgbClr val="FF6363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09" name="Text 209"/>
          <p:cNvSpPr txBox="1"/>
          <p:nvPr/>
        </p:nvSpPr>
        <p:spPr>
          <a:xfrm>
            <a:off x="7406640" y="3054096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900">
                <a:solidFill>
                  <a:srgbClr val="111111"/>
                </a:solidFill>
              </a:rPr>
              <a:t>positive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11480" y="2286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2200" b="1">
                <a:solidFill>
                  <a:srgbClr val="111111"/>
                </a:solidFill>
              </a:rPr>
              <a:t>Five-variable sensitivity status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94360" y="62179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100">
                <a:solidFill>
                  <a:srgbClr val="444444"/>
                </a:solidFill>
              </a:rPr>
              <a:t>MAP and CI require model curve export before effects can be calculated</a:t>
            </a:r>
          </a:p>
        </p:txBody>
      </p:sp>
      <p:sp>
        <p:nvSpPr>
          <p:cNvPr id="4" name="Rect 4"/>
          <p:cNvSpPr/>
          <p:nvPr/>
        </p:nvSpPr>
        <p:spPr>
          <a:xfrm>
            <a:off x="228600" y="868680"/>
            <a:ext cx="1508760" cy="3017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840" b="1">
                <a:solidFill>
                  <a:srgbClr val="111111"/>
                </a:solidFill>
              </a:rPr>
              <a:t>Outcome</a:t>
            </a:r>
          </a:p>
        </p:txBody>
      </p:sp>
      <p:sp>
        <p:nvSpPr>
          <p:cNvPr id="5" name="Rect 5"/>
          <p:cNvSpPr/>
          <p:nvPr/>
        </p:nvSpPr>
        <p:spPr>
          <a:xfrm>
            <a:off x="1828800" y="868680"/>
            <a:ext cx="1051560" cy="3017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840" b="1">
                <a:solidFill>
                  <a:srgbClr val="111111"/>
                </a:solidFill>
              </a:rPr>
              <a:t>Exposure</a:t>
            </a:r>
          </a:p>
        </p:txBody>
      </p:sp>
      <p:sp>
        <p:nvSpPr>
          <p:cNvPr id="6" name="Rect 6"/>
          <p:cNvSpPr/>
          <p:nvPr/>
        </p:nvSpPr>
        <p:spPr>
          <a:xfrm>
            <a:off x="2971800" y="868680"/>
            <a:ext cx="1280160" cy="3017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840" b="1">
                <a:solidFill>
                  <a:srgbClr val="111111"/>
                </a:solidFill>
              </a:rPr>
              <a:t>Window</a:t>
            </a:r>
          </a:p>
        </p:txBody>
      </p:sp>
      <p:sp>
        <p:nvSpPr>
          <p:cNvPr id="7" name="Rect 7"/>
          <p:cNvSpPr/>
          <p:nvPr/>
        </p:nvSpPr>
        <p:spPr>
          <a:xfrm>
            <a:off x="4343400" y="868680"/>
            <a:ext cx="1051560" cy="3017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840" b="1">
                <a:solidFill>
                  <a:srgbClr val="111111"/>
                </a:solidFill>
              </a:rPr>
              <a:t>Increment</a:t>
            </a:r>
          </a:p>
        </p:txBody>
      </p:sp>
      <p:sp>
        <p:nvSpPr>
          <p:cNvPr id="8" name="Rect 8"/>
          <p:cNvSpPr/>
          <p:nvPr/>
        </p:nvSpPr>
        <p:spPr>
          <a:xfrm>
            <a:off x="5486400" y="868680"/>
            <a:ext cx="822960" cy="3017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840" b="1">
                <a:solidFill>
                  <a:srgbClr val="111111"/>
                </a:solidFill>
              </a:rPr>
              <a:t>Median</a:t>
            </a:r>
          </a:p>
        </p:txBody>
      </p:sp>
      <p:sp>
        <p:nvSpPr>
          <p:cNvPr id="9" name="Rect 9"/>
          <p:cNvSpPr/>
          <p:nvPr/>
        </p:nvSpPr>
        <p:spPr>
          <a:xfrm>
            <a:off x="6400800" y="868680"/>
            <a:ext cx="1783080" cy="3017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840" b="1">
                <a:solidFill>
                  <a:srgbClr val="111111"/>
                </a:solidFill>
              </a:rPr>
              <a:t>IQR</a:t>
            </a:r>
          </a:p>
        </p:txBody>
      </p:sp>
      <p:sp>
        <p:nvSpPr>
          <p:cNvPr id="10" name="Rect 10"/>
          <p:cNvSpPr/>
          <p:nvPr/>
        </p:nvSpPr>
        <p:spPr>
          <a:xfrm>
            <a:off x="8321040" y="868680"/>
            <a:ext cx="1051560" cy="3017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en-US" sz="840" b="1">
                <a:solidFill>
                  <a:srgbClr val="111111"/>
                </a:solidFill>
              </a:rPr>
              <a:t>Status</a:t>
            </a:r>
          </a:p>
        </p:txBody>
      </p:sp>
      <p:sp>
        <p:nvSpPr>
          <p:cNvPr id="11" name="Rect 11"/>
          <p:cNvSpPr/>
          <p:nvPr/>
        </p:nvSpPr>
        <p:spPr>
          <a:xfrm>
            <a:off x="228600" y="1170432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Left SctO2</a:t>
            </a:r>
          </a:p>
        </p:txBody>
      </p:sp>
      <p:sp>
        <p:nvSpPr>
          <p:cNvPr id="12" name="Rect 12"/>
          <p:cNvSpPr/>
          <p:nvPr/>
        </p:nvSpPr>
        <p:spPr>
          <a:xfrm>
            <a:off x="1828800" y="1170432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EtCO2</a:t>
            </a:r>
          </a:p>
        </p:txBody>
      </p:sp>
      <p:sp>
        <p:nvSpPr>
          <p:cNvPr id="13" name="Rect 13"/>
          <p:cNvSpPr/>
          <p:nvPr/>
        </p:nvSpPr>
        <p:spPr>
          <a:xfrm>
            <a:off x="2971800" y="1170432"/>
            <a:ext cx="12801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24.00-37.00</a:t>
            </a:r>
          </a:p>
        </p:txBody>
      </p:sp>
      <p:sp>
        <p:nvSpPr>
          <p:cNvPr id="14" name="Rect 14"/>
          <p:cNvSpPr/>
          <p:nvPr/>
        </p:nvSpPr>
        <p:spPr>
          <a:xfrm>
            <a:off x="4343400" y="1170432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15" name="Rect 15"/>
          <p:cNvSpPr/>
          <p:nvPr/>
        </p:nvSpPr>
        <p:spPr>
          <a:xfrm>
            <a:off x="5486400" y="1170432"/>
            <a:ext cx="822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2.51</a:t>
            </a:r>
          </a:p>
        </p:txBody>
      </p:sp>
      <p:sp>
        <p:nvSpPr>
          <p:cNvPr id="16" name="Rect 16"/>
          <p:cNvSpPr/>
          <p:nvPr/>
        </p:nvSpPr>
        <p:spPr>
          <a:xfrm>
            <a:off x="6400800" y="1170432"/>
            <a:ext cx="1783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2.17 to 2.99</a:t>
            </a:r>
          </a:p>
        </p:txBody>
      </p:sp>
      <p:sp>
        <p:nvSpPr>
          <p:cNvPr id="17" name="Rect 17"/>
          <p:cNvSpPr/>
          <p:nvPr/>
        </p:nvSpPr>
        <p:spPr>
          <a:xfrm>
            <a:off x="8321040" y="1170432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ok</a:t>
            </a:r>
          </a:p>
        </p:txBody>
      </p:sp>
      <p:sp>
        <p:nvSpPr>
          <p:cNvPr id="18" name="Rect 18"/>
          <p:cNvSpPr/>
          <p:nvPr/>
        </p:nvSpPr>
        <p:spPr>
          <a:xfrm>
            <a:off x="228600" y="1453896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Left SctO2</a:t>
            </a:r>
          </a:p>
        </p:txBody>
      </p:sp>
      <p:sp>
        <p:nvSpPr>
          <p:cNvPr id="19" name="Rect 19"/>
          <p:cNvSpPr/>
          <p:nvPr/>
        </p:nvSpPr>
        <p:spPr>
          <a:xfrm>
            <a:off x="1828800" y="1453896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FiO2</a:t>
            </a:r>
          </a:p>
        </p:txBody>
      </p:sp>
      <p:sp>
        <p:nvSpPr>
          <p:cNvPr id="20" name="Rect 20"/>
          <p:cNvSpPr/>
          <p:nvPr/>
        </p:nvSpPr>
        <p:spPr>
          <a:xfrm>
            <a:off x="2971800" y="1453896"/>
            <a:ext cx="12801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46.00-95.00</a:t>
            </a:r>
          </a:p>
        </p:txBody>
      </p:sp>
      <p:sp>
        <p:nvSpPr>
          <p:cNvPr id="21" name="Rect 21"/>
          <p:cNvSpPr/>
          <p:nvPr/>
        </p:nvSpPr>
        <p:spPr>
          <a:xfrm>
            <a:off x="4343400" y="1453896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22" name="Rect 22"/>
          <p:cNvSpPr/>
          <p:nvPr/>
        </p:nvSpPr>
        <p:spPr>
          <a:xfrm>
            <a:off x="5486400" y="1453896"/>
            <a:ext cx="822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0.18</a:t>
            </a:r>
          </a:p>
        </p:txBody>
      </p:sp>
      <p:sp>
        <p:nvSpPr>
          <p:cNvPr id="23" name="Rect 23"/>
          <p:cNvSpPr/>
          <p:nvPr/>
        </p:nvSpPr>
        <p:spPr>
          <a:xfrm>
            <a:off x="6400800" y="1453896"/>
            <a:ext cx="1783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-0.12 to 0.36</a:t>
            </a:r>
          </a:p>
        </p:txBody>
      </p:sp>
      <p:sp>
        <p:nvSpPr>
          <p:cNvPr id="24" name="Rect 24"/>
          <p:cNvSpPr/>
          <p:nvPr/>
        </p:nvSpPr>
        <p:spPr>
          <a:xfrm>
            <a:off x="8321040" y="1453896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ok</a:t>
            </a:r>
          </a:p>
        </p:txBody>
      </p:sp>
      <p:sp>
        <p:nvSpPr>
          <p:cNvPr id="25" name="Rect 25"/>
          <p:cNvSpPr/>
          <p:nvPr/>
        </p:nvSpPr>
        <p:spPr>
          <a:xfrm>
            <a:off x="228600" y="1737360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Left SctO2</a:t>
            </a:r>
          </a:p>
        </p:txBody>
      </p:sp>
      <p:sp>
        <p:nvSpPr>
          <p:cNvPr id="26" name="Rect 26"/>
          <p:cNvSpPr/>
          <p:nvPr/>
        </p:nvSpPr>
        <p:spPr>
          <a:xfrm>
            <a:off x="1828800" y="1737360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Temperature</a:t>
            </a:r>
          </a:p>
        </p:txBody>
      </p:sp>
      <p:sp>
        <p:nvSpPr>
          <p:cNvPr id="27" name="Rect 27"/>
          <p:cNvSpPr/>
          <p:nvPr/>
        </p:nvSpPr>
        <p:spPr>
          <a:xfrm>
            <a:off x="2971800" y="1737360"/>
            <a:ext cx="12801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34.38-36.52</a:t>
            </a:r>
          </a:p>
        </p:txBody>
      </p:sp>
      <p:sp>
        <p:nvSpPr>
          <p:cNvPr id="28" name="Rect 28"/>
          <p:cNvSpPr/>
          <p:nvPr/>
        </p:nvSpPr>
        <p:spPr>
          <a:xfrm>
            <a:off x="4343400" y="1737360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+0.50</a:t>
            </a:r>
          </a:p>
        </p:txBody>
      </p:sp>
      <p:sp>
        <p:nvSpPr>
          <p:cNvPr id="29" name="Rect 29"/>
          <p:cNvSpPr/>
          <p:nvPr/>
        </p:nvSpPr>
        <p:spPr>
          <a:xfrm>
            <a:off x="5486400" y="1737360"/>
            <a:ext cx="822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0.17</a:t>
            </a:r>
          </a:p>
        </p:txBody>
      </p:sp>
      <p:sp>
        <p:nvSpPr>
          <p:cNvPr id="30" name="Rect 30"/>
          <p:cNvSpPr/>
          <p:nvPr/>
        </p:nvSpPr>
        <p:spPr>
          <a:xfrm>
            <a:off x="6400800" y="1737360"/>
            <a:ext cx="1783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0.01 to 0.30</a:t>
            </a:r>
          </a:p>
        </p:txBody>
      </p:sp>
      <p:sp>
        <p:nvSpPr>
          <p:cNvPr id="31" name="Rect 31"/>
          <p:cNvSpPr/>
          <p:nvPr/>
        </p:nvSpPr>
        <p:spPr>
          <a:xfrm>
            <a:off x="8321040" y="1737360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ok</a:t>
            </a:r>
          </a:p>
        </p:txBody>
      </p:sp>
      <p:sp>
        <p:nvSpPr>
          <p:cNvPr id="32" name="Rect 32"/>
          <p:cNvSpPr/>
          <p:nvPr/>
        </p:nvSpPr>
        <p:spPr>
          <a:xfrm>
            <a:off x="228600" y="2020824"/>
            <a:ext cx="15087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Left SctO2</a:t>
            </a:r>
          </a:p>
        </p:txBody>
      </p:sp>
      <p:sp>
        <p:nvSpPr>
          <p:cNvPr id="33" name="Rect 33"/>
          <p:cNvSpPr/>
          <p:nvPr/>
        </p:nvSpPr>
        <p:spPr>
          <a:xfrm>
            <a:off x="1828800" y="2020824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MAP</a:t>
            </a:r>
          </a:p>
        </p:txBody>
      </p:sp>
      <p:sp>
        <p:nvSpPr>
          <p:cNvPr id="34" name="Rect 34"/>
          <p:cNvSpPr/>
          <p:nvPr/>
        </p:nvSpPr>
        <p:spPr>
          <a:xfrm>
            <a:off x="2971800" y="2020824"/>
            <a:ext cx="12801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54.00-102.00</a:t>
            </a:r>
          </a:p>
        </p:txBody>
      </p:sp>
      <p:sp>
        <p:nvSpPr>
          <p:cNvPr id="35" name="Rect 35"/>
          <p:cNvSpPr/>
          <p:nvPr/>
        </p:nvSpPr>
        <p:spPr>
          <a:xfrm>
            <a:off x="4343400" y="2020824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36" name="Rect 36"/>
          <p:cNvSpPr/>
          <p:nvPr/>
        </p:nvSpPr>
        <p:spPr>
          <a:xfrm>
            <a:off x="5486400" y="2020824"/>
            <a:ext cx="8229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6400800" y="2020824"/>
            <a:ext cx="178308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8321040" y="2020824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missing</a:t>
            </a:r>
          </a:p>
        </p:txBody>
      </p:sp>
      <p:sp>
        <p:nvSpPr>
          <p:cNvPr id="39" name="Rect 39"/>
          <p:cNvSpPr/>
          <p:nvPr/>
        </p:nvSpPr>
        <p:spPr>
          <a:xfrm>
            <a:off x="228600" y="2304288"/>
            <a:ext cx="15087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Left SctO2</a:t>
            </a:r>
          </a:p>
        </p:txBody>
      </p:sp>
      <p:sp>
        <p:nvSpPr>
          <p:cNvPr id="40" name="Rect 40"/>
          <p:cNvSpPr/>
          <p:nvPr/>
        </p:nvSpPr>
        <p:spPr>
          <a:xfrm>
            <a:off x="1828800" y="2304288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CI</a:t>
            </a:r>
          </a:p>
        </p:txBody>
      </p:sp>
      <p:sp>
        <p:nvSpPr>
          <p:cNvPr id="41" name="Rect 41"/>
          <p:cNvSpPr/>
          <p:nvPr/>
        </p:nvSpPr>
        <p:spPr>
          <a:xfrm>
            <a:off x="2971800" y="2304288"/>
            <a:ext cx="12801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1.40-4.11</a:t>
            </a:r>
          </a:p>
        </p:txBody>
      </p:sp>
      <p:sp>
        <p:nvSpPr>
          <p:cNvPr id="42" name="Rect 42"/>
          <p:cNvSpPr/>
          <p:nvPr/>
        </p:nvSpPr>
        <p:spPr>
          <a:xfrm>
            <a:off x="4343400" y="2304288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+0.05</a:t>
            </a:r>
          </a:p>
        </p:txBody>
      </p:sp>
      <p:sp>
        <p:nvSpPr>
          <p:cNvPr id="43" name="Rect 43"/>
          <p:cNvSpPr/>
          <p:nvPr/>
        </p:nvSpPr>
        <p:spPr>
          <a:xfrm>
            <a:off x="5486400" y="2304288"/>
            <a:ext cx="8229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6400800" y="2304288"/>
            <a:ext cx="178308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8321040" y="2304288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missing</a:t>
            </a:r>
          </a:p>
        </p:txBody>
      </p:sp>
      <p:sp>
        <p:nvSpPr>
          <p:cNvPr id="46" name="Rect 46"/>
          <p:cNvSpPr/>
          <p:nvPr/>
        </p:nvSpPr>
        <p:spPr>
          <a:xfrm>
            <a:off x="228600" y="2587752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Right SctO2</a:t>
            </a:r>
          </a:p>
        </p:txBody>
      </p:sp>
      <p:sp>
        <p:nvSpPr>
          <p:cNvPr id="47" name="Rect 47"/>
          <p:cNvSpPr/>
          <p:nvPr/>
        </p:nvSpPr>
        <p:spPr>
          <a:xfrm>
            <a:off x="1828800" y="2587752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EtCO2</a:t>
            </a:r>
          </a:p>
        </p:txBody>
      </p:sp>
      <p:sp>
        <p:nvSpPr>
          <p:cNvPr id="48" name="Rect 48"/>
          <p:cNvSpPr/>
          <p:nvPr/>
        </p:nvSpPr>
        <p:spPr>
          <a:xfrm>
            <a:off x="2971800" y="2587752"/>
            <a:ext cx="12801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24.00-37.00</a:t>
            </a:r>
          </a:p>
        </p:txBody>
      </p:sp>
      <p:sp>
        <p:nvSpPr>
          <p:cNvPr id="49" name="Rect 49"/>
          <p:cNvSpPr/>
          <p:nvPr/>
        </p:nvSpPr>
        <p:spPr>
          <a:xfrm>
            <a:off x="4343400" y="2587752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50" name="Rect 50"/>
          <p:cNvSpPr/>
          <p:nvPr/>
        </p:nvSpPr>
        <p:spPr>
          <a:xfrm>
            <a:off x="5486400" y="2587752"/>
            <a:ext cx="822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2.37</a:t>
            </a:r>
          </a:p>
        </p:txBody>
      </p:sp>
      <p:sp>
        <p:nvSpPr>
          <p:cNvPr id="51" name="Rect 51"/>
          <p:cNvSpPr/>
          <p:nvPr/>
        </p:nvSpPr>
        <p:spPr>
          <a:xfrm>
            <a:off x="6400800" y="2587752"/>
            <a:ext cx="1783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2.03 to 2.84</a:t>
            </a:r>
          </a:p>
        </p:txBody>
      </p:sp>
      <p:sp>
        <p:nvSpPr>
          <p:cNvPr id="52" name="Rect 52"/>
          <p:cNvSpPr/>
          <p:nvPr/>
        </p:nvSpPr>
        <p:spPr>
          <a:xfrm>
            <a:off x="8321040" y="2587752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ok</a:t>
            </a:r>
          </a:p>
        </p:txBody>
      </p:sp>
      <p:sp>
        <p:nvSpPr>
          <p:cNvPr id="53" name="Rect 53"/>
          <p:cNvSpPr/>
          <p:nvPr/>
        </p:nvSpPr>
        <p:spPr>
          <a:xfrm>
            <a:off x="228600" y="2871216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Right SctO2</a:t>
            </a:r>
          </a:p>
        </p:txBody>
      </p:sp>
      <p:sp>
        <p:nvSpPr>
          <p:cNvPr id="54" name="Rect 54"/>
          <p:cNvSpPr/>
          <p:nvPr/>
        </p:nvSpPr>
        <p:spPr>
          <a:xfrm>
            <a:off x="1828800" y="2871216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FiO2</a:t>
            </a:r>
          </a:p>
        </p:txBody>
      </p:sp>
      <p:sp>
        <p:nvSpPr>
          <p:cNvPr id="55" name="Rect 55"/>
          <p:cNvSpPr/>
          <p:nvPr/>
        </p:nvSpPr>
        <p:spPr>
          <a:xfrm>
            <a:off x="2971800" y="2871216"/>
            <a:ext cx="12801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46.00-95.00</a:t>
            </a:r>
          </a:p>
        </p:txBody>
      </p:sp>
      <p:sp>
        <p:nvSpPr>
          <p:cNvPr id="56" name="Rect 56"/>
          <p:cNvSpPr/>
          <p:nvPr/>
        </p:nvSpPr>
        <p:spPr>
          <a:xfrm>
            <a:off x="4343400" y="2871216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57" name="Rect 57"/>
          <p:cNvSpPr/>
          <p:nvPr/>
        </p:nvSpPr>
        <p:spPr>
          <a:xfrm>
            <a:off x="5486400" y="2871216"/>
            <a:ext cx="822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0.15</a:t>
            </a:r>
          </a:p>
        </p:txBody>
      </p:sp>
      <p:sp>
        <p:nvSpPr>
          <p:cNvPr id="58" name="Rect 58"/>
          <p:cNvSpPr/>
          <p:nvPr/>
        </p:nvSpPr>
        <p:spPr>
          <a:xfrm>
            <a:off x="6400800" y="2871216"/>
            <a:ext cx="1783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-0.09 to 0.39</a:t>
            </a:r>
          </a:p>
        </p:txBody>
      </p:sp>
      <p:sp>
        <p:nvSpPr>
          <p:cNvPr id="59" name="Rect 59"/>
          <p:cNvSpPr/>
          <p:nvPr/>
        </p:nvSpPr>
        <p:spPr>
          <a:xfrm>
            <a:off x="8321040" y="2871216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ok</a:t>
            </a:r>
          </a:p>
        </p:txBody>
      </p:sp>
      <p:sp>
        <p:nvSpPr>
          <p:cNvPr id="60" name="Rect 60"/>
          <p:cNvSpPr/>
          <p:nvPr/>
        </p:nvSpPr>
        <p:spPr>
          <a:xfrm>
            <a:off x="228600" y="3154680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Right SctO2</a:t>
            </a:r>
          </a:p>
        </p:txBody>
      </p:sp>
      <p:sp>
        <p:nvSpPr>
          <p:cNvPr id="61" name="Rect 61"/>
          <p:cNvSpPr/>
          <p:nvPr/>
        </p:nvSpPr>
        <p:spPr>
          <a:xfrm>
            <a:off x="1828800" y="3154680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Temperature</a:t>
            </a:r>
          </a:p>
        </p:txBody>
      </p:sp>
      <p:sp>
        <p:nvSpPr>
          <p:cNvPr id="62" name="Rect 62"/>
          <p:cNvSpPr/>
          <p:nvPr/>
        </p:nvSpPr>
        <p:spPr>
          <a:xfrm>
            <a:off x="2971800" y="3154680"/>
            <a:ext cx="12801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34.39-36.51</a:t>
            </a:r>
          </a:p>
        </p:txBody>
      </p:sp>
      <p:sp>
        <p:nvSpPr>
          <p:cNvPr id="63" name="Rect 63"/>
          <p:cNvSpPr/>
          <p:nvPr/>
        </p:nvSpPr>
        <p:spPr>
          <a:xfrm>
            <a:off x="4343400" y="3154680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+0.50</a:t>
            </a:r>
          </a:p>
        </p:txBody>
      </p:sp>
      <p:sp>
        <p:nvSpPr>
          <p:cNvPr id="64" name="Rect 64"/>
          <p:cNvSpPr/>
          <p:nvPr/>
        </p:nvSpPr>
        <p:spPr>
          <a:xfrm>
            <a:off x="5486400" y="3154680"/>
            <a:ext cx="822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0.29</a:t>
            </a:r>
          </a:p>
        </p:txBody>
      </p:sp>
      <p:sp>
        <p:nvSpPr>
          <p:cNvPr id="65" name="Rect 65"/>
          <p:cNvSpPr/>
          <p:nvPr/>
        </p:nvSpPr>
        <p:spPr>
          <a:xfrm>
            <a:off x="6400800" y="3154680"/>
            <a:ext cx="1783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-0.09 to 0.62</a:t>
            </a:r>
          </a:p>
        </p:txBody>
      </p:sp>
      <p:sp>
        <p:nvSpPr>
          <p:cNvPr id="66" name="Rect 66"/>
          <p:cNvSpPr/>
          <p:nvPr/>
        </p:nvSpPr>
        <p:spPr>
          <a:xfrm>
            <a:off x="8321040" y="3154680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ok</a:t>
            </a:r>
          </a:p>
        </p:txBody>
      </p:sp>
      <p:sp>
        <p:nvSpPr>
          <p:cNvPr id="67" name="Rect 67"/>
          <p:cNvSpPr/>
          <p:nvPr/>
        </p:nvSpPr>
        <p:spPr>
          <a:xfrm>
            <a:off x="228600" y="3438144"/>
            <a:ext cx="15087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Right SctO2</a:t>
            </a:r>
          </a:p>
        </p:txBody>
      </p:sp>
      <p:sp>
        <p:nvSpPr>
          <p:cNvPr id="68" name="Rect 68"/>
          <p:cNvSpPr/>
          <p:nvPr/>
        </p:nvSpPr>
        <p:spPr>
          <a:xfrm>
            <a:off x="1828800" y="3438144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MAP</a:t>
            </a:r>
          </a:p>
        </p:txBody>
      </p:sp>
      <p:sp>
        <p:nvSpPr>
          <p:cNvPr id="69" name="Rect 69"/>
          <p:cNvSpPr/>
          <p:nvPr/>
        </p:nvSpPr>
        <p:spPr>
          <a:xfrm>
            <a:off x="2971800" y="3438144"/>
            <a:ext cx="12801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54.00-101.00</a:t>
            </a:r>
          </a:p>
        </p:txBody>
      </p:sp>
      <p:sp>
        <p:nvSpPr>
          <p:cNvPr id="70" name="Rect 70"/>
          <p:cNvSpPr/>
          <p:nvPr/>
        </p:nvSpPr>
        <p:spPr>
          <a:xfrm>
            <a:off x="4343400" y="3438144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71" name="Rect 71"/>
          <p:cNvSpPr/>
          <p:nvPr/>
        </p:nvSpPr>
        <p:spPr>
          <a:xfrm>
            <a:off x="5486400" y="3438144"/>
            <a:ext cx="8229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6400800" y="3438144"/>
            <a:ext cx="178308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8321040" y="3438144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missing</a:t>
            </a:r>
          </a:p>
        </p:txBody>
      </p:sp>
      <p:sp>
        <p:nvSpPr>
          <p:cNvPr id="74" name="Rect 74"/>
          <p:cNvSpPr/>
          <p:nvPr/>
        </p:nvSpPr>
        <p:spPr>
          <a:xfrm>
            <a:off x="228600" y="3721608"/>
            <a:ext cx="15087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Right SctO2</a:t>
            </a:r>
          </a:p>
        </p:txBody>
      </p:sp>
      <p:sp>
        <p:nvSpPr>
          <p:cNvPr id="75" name="Rect 75"/>
          <p:cNvSpPr/>
          <p:nvPr/>
        </p:nvSpPr>
        <p:spPr>
          <a:xfrm>
            <a:off x="1828800" y="3721608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CI</a:t>
            </a:r>
          </a:p>
        </p:txBody>
      </p:sp>
      <p:sp>
        <p:nvSpPr>
          <p:cNvPr id="76" name="Rect 76"/>
          <p:cNvSpPr/>
          <p:nvPr/>
        </p:nvSpPr>
        <p:spPr>
          <a:xfrm>
            <a:off x="2971800" y="3721608"/>
            <a:ext cx="12801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1.41-4.06</a:t>
            </a:r>
          </a:p>
        </p:txBody>
      </p:sp>
      <p:sp>
        <p:nvSpPr>
          <p:cNvPr id="77" name="Rect 77"/>
          <p:cNvSpPr/>
          <p:nvPr/>
        </p:nvSpPr>
        <p:spPr>
          <a:xfrm>
            <a:off x="4343400" y="3721608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+0.05</a:t>
            </a:r>
          </a:p>
        </p:txBody>
      </p:sp>
      <p:sp>
        <p:nvSpPr>
          <p:cNvPr id="78" name="Rect 78"/>
          <p:cNvSpPr/>
          <p:nvPr/>
        </p:nvSpPr>
        <p:spPr>
          <a:xfrm>
            <a:off x="5486400" y="3721608"/>
            <a:ext cx="8229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6400800" y="3721608"/>
            <a:ext cx="178308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8321040" y="3721608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missing</a:t>
            </a:r>
          </a:p>
        </p:txBody>
      </p:sp>
      <p:sp>
        <p:nvSpPr>
          <p:cNvPr id="81" name="Rect 81"/>
          <p:cNvSpPr/>
          <p:nvPr/>
        </p:nvSpPr>
        <p:spPr>
          <a:xfrm>
            <a:off x="228600" y="4005072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SftO2</a:t>
            </a:r>
          </a:p>
        </p:txBody>
      </p:sp>
      <p:sp>
        <p:nvSpPr>
          <p:cNvPr id="82" name="Rect 82"/>
          <p:cNvSpPr/>
          <p:nvPr/>
        </p:nvSpPr>
        <p:spPr>
          <a:xfrm>
            <a:off x="1828800" y="4005072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EtCO2</a:t>
            </a:r>
          </a:p>
        </p:txBody>
      </p:sp>
      <p:sp>
        <p:nvSpPr>
          <p:cNvPr id="83" name="Rect 83"/>
          <p:cNvSpPr/>
          <p:nvPr/>
        </p:nvSpPr>
        <p:spPr>
          <a:xfrm>
            <a:off x="2971800" y="4005072"/>
            <a:ext cx="12801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24.00-37.00</a:t>
            </a:r>
          </a:p>
        </p:txBody>
      </p:sp>
      <p:sp>
        <p:nvSpPr>
          <p:cNvPr id="84" name="Rect 84"/>
          <p:cNvSpPr/>
          <p:nvPr/>
        </p:nvSpPr>
        <p:spPr>
          <a:xfrm>
            <a:off x="4343400" y="4005072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85" name="Rect 85"/>
          <p:cNvSpPr/>
          <p:nvPr/>
        </p:nvSpPr>
        <p:spPr>
          <a:xfrm>
            <a:off x="5486400" y="4005072"/>
            <a:ext cx="822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1.27</a:t>
            </a:r>
          </a:p>
        </p:txBody>
      </p:sp>
      <p:sp>
        <p:nvSpPr>
          <p:cNvPr id="86" name="Rect 86"/>
          <p:cNvSpPr/>
          <p:nvPr/>
        </p:nvSpPr>
        <p:spPr>
          <a:xfrm>
            <a:off x="6400800" y="4005072"/>
            <a:ext cx="1783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1.12 to 1.39</a:t>
            </a:r>
          </a:p>
        </p:txBody>
      </p:sp>
      <p:sp>
        <p:nvSpPr>
          <p:cNvPr id="87" name="Rect 87"/>
          <p:cNvSpPr/>
          <p:nvPr/>
        </p:nvSpPr>
        <p:spPr>
          <a:xfrm>
            <a:off x="8321040" y="4005072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ok</a:t>
            </a:r>
          </a:p>
        </p:txBody>
      </p:sp>
      <p:sp>
        <p:nvSpPr>
          <p:cNvPr id="88" name="Rect 88"/>
          <p:cNvSpPr/>
          <p:nvPr/>
        </p:nvSpPr>
        <p:spPr>
          <a:xfrm>
            <a:off x="228600" y="4288536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SftO2</a:t>
            </a:r>
          </a:p>
        </p:txBody>
      </p:sp>
      <p:sp>
        <p:nvSpPr>
          <p:cNvPr id="89" name="Rect 89"/>
          <p:cNvSpPr/>
          <p:nvPr/>
        </p:nvSpPr>
        <p:spPr>
          <a:xfrm>
            <a:off x="1828800" y="4288536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FiO2</a:t>
            </a:r>
          </a:p>
        </p:txBody>
      </p:sp>
      <p:sp>
        <p:nvSpPr>
          <p:cNvPr id="90" name="Rect 90"/>
          <p:cNvSpPr/>
          <p:nvPr/>
        </p:nvSpPr>
        <p:spPr>
          <a:xfrm>
            <a:off x="2971800" y="4288536"/>
            <a:ext cx="12801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46.00-95.00</a:t>
            </a:r>
          </a:p>
        </p:txBody>
      </p:sp>
      <p:sp>
        <p:nvSpPr>
          <p:cNvPr id="91" name="Rect 91"/>
          <p:cNvSpPr/>
          <p:nvPr/>
        </p:nvSpPr>
        <p:spPr>
          <a:xfrm>
            <a:off x="4343400" y="4288536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92" name="Rect 92"/>
          <p:cNvSpPr/>
          <p:nvPr/>
        </p:nvSpPr>
        <p:spPr>
          <a:xfrm>
            <a:off x="5486400" y="4288536"/>
            <a:ext cx="822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0.01</a:t>
            </a:r>
          </a:p>
        </p:txBody>
      </p:sp>
      <p:sp>
        <p:nvSpPr>
          <p:cNvPr id="93" name="Rect 93"/>
          <p:cNvSpPr/>
          <p:nvPr/>
        </p:nvSpPr>
        <p:spPr>
          <a:xfrm>
            <a:off x="6400800" y="4288536"/>
            <a:ext cx="1783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-0.07 to 0.12</a:t>
            </a:r>
          </a:p>
        </p:txBody>
      </p:sp>
      <p:sp>
        <p:nvSpPr>
          <p:cNvPr id="94" name="Rect 94"/>
          <p:cNvSpPr/>
          <p:nvPr/>
        </p:nvSpPr>
        <p:spPr>
          <a:xfrm>
            <a:off x="8321040" y="4288536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ok</a:t>
            </a:r>
          </a:p>
        </p:txBody>
      </p:sp>
      <p:sp>
        <p:nvSpPr>
          <p:cNvPr id="95" name="Rect 95"/>
          <p:cNvSpPr/>
          <p:nvPr/>
        </p:nvSpPr>
        <p:spPr>
          <a:xfrm>
            <a:off x="228600" y="4572000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SftO2</a:t>
            </a:r>
          </a:p>
        </p:txBody>
      </p:sp>
      <p:sp>
        <p:nvSpPr>
          <p:cNvPr id="96" name="Rect 96"/>
          <p:cNvSpPr/>
          <p:nvPr/>
        </p:nvSpPr>
        <p:spPr>
          <a:xfrm>
            <a:off x="1828800" y="4572000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Temperature</a:t>
            </a:r>
          </a:p>
        </p:txBody>
      </p:sp>
      <p:sp>
        <p:nvSpPr>
          <p:cNvPr id="97" name="Rect 97"/>
          <p:cNvSpPr/>
          <p:nvPr/>
        </p:nvSpPr>
        <p:spPr>
          <a:xfrm>
            <a:off x="2971800" y="4572000"/>
            <a:ext cx="12801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34.39-36.52</a:t>
            </a:r>
          </a:p>
        </p:txBody>
      </p:sp>
      <p:sp>
        <p:nvSpPr>
          <p:cNvPr id="98" name="Rect 98"/>
          <p:cNvSpPr/>
          <p:nvPr/>
        </p:nvSpPr>
        <p:spPr>
          <a:xfrm>
            <a:off x="4343400" y="4572000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+0.50</a:t>
            </a:r>
          </a:p>
        </p:txBody>
      </p:sp>
      <p:sp>
        <p:nvSpPr>
          <p:cNvPr id="99" name="Rect 99"/>
          <p:cNvSpPr/>
          <p:nvPr/>
        </p:nvSpPr>
        <p:spPr>
          <a:xfrm>
            <a:off x="5486400" y="4572000"/>
            <a:ext cx="8229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0.24</a:t>
            </a:r>
          </a:p>
        </p:txBody>
      </p:sp>
      <p:sp>
        <p:nvSpPr>
          <p:cNvPr id="100" name="Rect 100"/>
          <p:cNvSpPr/>
          <p:nvPr/>
        </p:nvSpPr>
        <p:spPr>
          <a:xfrm>
            <a:off x="6400800" y="4572000"/>
            <a:ext cx="17830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0.12 to 0.38</a:t>
            </a:r>
          </a:p>
        </p:txBody>
      </p:sp>
      <p:sp>
        <p:nvSpPr>
          <p:cNvPr id="101" name="Rect 101"/>
          <p:cNvSpPr/>
          <p:nvPr/>
        </p:nvSpPr>
        <p:spPr>
          <a:xfrm>
            <a:off x="8321040" y="4572000"/>
            <a:ext cx="10515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ok</a:t>
            </a:r>
          </a:p>
        </p:txBody>
      </p:sp>
      <p:sp>
        <p:nvSpPr>
          <p:cNvPr id="102" name="Rect 102"/>
          <p:cNvSpPr/>
          <p:nvPr/>
        </p:nvSpPr>
        <p:spPr>
          <a:xfrm>
            <a:off x="228600" y="4855464"/>
            <a:ext cx="15087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SftO2</a:t>
            </a:r>
          </a:p>
        </p:txBody>
      </p:sp>
      <p:sp>
        <p:nvSpPr>
          <p:cNvPr id="103" name="Rect 103"/>
          <p:cNvSpPr/>
          <p:nvPr/>
        </p:nvSpPr>
        <p:spPr>
          <a:xfrm>
            <a:off x="1828800" y="4855464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MAP</a:t>
            </a:r>
          </a:p>
        </p:txBody>
      </p:sp>
      <p:sp>
        <p:nvSpPr>
          <p:cNvPr id="104" name="Rect 104"/>
          <p:cNvSpPr/>
          <p:nvPr/>
        </p:nvSpPr>
        <p:spPr>
          <a:xfrm>
            <a:off x="2971800" y="4855464"/>
            <a:ext cx="12801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54.00-101.00</a:t>
            </a:r>
          </a:p>
        </p:txBody>
      </p:sp>
      <p:sp>
        <p:nvSpPr>
          <p:cNvPr id="105" name="Rect 105"/>
          <p:cNvSpPr/>
          <p:nvPr/>
        </p:nvSpPr>
        <p:spPr>
          <a:xfrm>
            <a:off x="4343400" y="4855464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+5.00</a:t>
            </a:r>
          </a:p>
        </p:txBody>
      </p:sp>
      <p:sp>
        <p:nvSpPr>
          <p:cNvPr id="106" name="Rect 106"/>
          <p:cNvSpPr/>
          <p:nvPr/>
        </p:nvSpPr>
        <p:spPr>
          <a:xfrm>
            <a:off x="5486400" y="4855464"/>
            <a:ext cx="8229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6400800" y="4855464"/>
            <a:ext cx="178308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8321040" y="4855464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missing</a:t>
            </a:r>
          </a:p>
        </p:txBody>
      </p:sp>
      <p:sp>
        <p:nvSpPr>
          <p:cNvPr id="109" name="Rect 109"/>
          <p:cNvSpPr/>
          <p:nvPr/>
        </p:nvSpPr>
        <p:spPr>
          <a:xfrm>
            <a:off x="228600" y="5138928"/>
            <a:ext cx="15087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SftO2</a:t>
            </a:r>
          </a:p>
        </p:txBody>
      </p:sp>
      <p:sp>
        <p:nvSpPr>
          <p:cNvPr id="110" name="Rect 110"/>
          <p:cNvSpPr/>
          <p:nvPr/>
        </p:nvSpPr>
        <p:spPr>
          <a:xfrm>
            <a:off x="1828800" y="5138928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CI</a:t>
            </a:r>
          </a:p>
        </p:txBody>
      </p:sp>
      <p:sp>
        <p:nvSpPr>
          <p:cNvPr id="111" name="Rect 111"/>
          <p:cNvSpPr/>
          <p:nvPr/>
        </p:nvSpPr>
        <p:spPr>
          <a:xfrm>
            <a:off x="2971800" y="5138928"/>
            <a:ext cx="12801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1.43-4.07</a:t>
            </a:r>
          </a:p>
        </p:txBody>
      </p:sp>
      <p:sp>
        <p:nvSpPr>
          <p:cNvPr id="112" name="Rect 112"/>
          <p:cNvSpPr/>
          <p:nvPr/>
        </p:nvSpPr>
        <p:spPr>
          <a:xfrm>
            <a:off x="4343400" y="5138928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+0.05</a:t>
            </a:r>
          </a:p>
        </p:txBody>
      </p:sp>
      <p:sp>
        <p:nvSpPr>
          <p:cNvPr id="113" name="Rect 113"/>
          <p:cNvSpPr/>
          <p:nvPr/>
        </p:nvSpPr>
        <p:spPr>
          <a:xfrm>
            <a:off x="5486400" y="5138928"/>
            <a:ext cx="8229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6400800" y="5138928"/>
            <a:ext cx="178308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8321040" y="5138928"/>
            <a:ext cx="1051560" cy="283464"/>
          </a:xfrm>
          <a:prstGeom prst="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en-US" sz="730">
                <a:solidFill>
                  <a:srgbClr val="111111"/>
                </a:solidFill>
              </a:rPr>
              <a:t>missing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502920" y="5623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92400E"/>
                </a:solidFill>
              </a:rPr>
              <a:t>To fill MAP/CI: rerun the model with INTRA5_SENSITIVITY_XVARS=MAP,CI so slice_median curve CSV files are exported.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